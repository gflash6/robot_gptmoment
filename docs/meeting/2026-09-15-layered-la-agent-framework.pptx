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E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3FD7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680960" y="502920"/>
            <a:ext cx="4114800" cy="5806440"/>
          </a:xfrm>
          <a:prstGeom prst="roundRect">
            <a:avLst>
              <a:gd name="adj" fmla="val 8000"/>
            </a:avLst>
          </a:prstGeom>
          <a:solidFill>
            <a:srgbClr val="192C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731520"/>
            <a:ext cx="6400800" cy="585216"/>
          </a:xfrm>
          <a:prstGeom prst="rect">
            <a:avLst/>
          </a:prstGeom>
          <a:noFill/>
        </p:spPr>
        <p:txBody>
          <a:bodyPr wrap="square" lIns="18288" rIns="18288" tIns="13716" bIns="13716" anchor="ctr">
            <a:spAutoFit/>
          </a:bodyPr>
          <a:lstStyle/>
          <a:p>
            <a:pPr algn="l">
              <a:spcAft>
                <a:spcPts val="200"/>
              </a:spcAft>
              <a:defRPr sz="2200" b="1">
                <a:solidFill>
                  <a:srgbClr val="3FD7C0"/>
                </a:solidFill>
                <a:latin typeface="Noto Sans CJK SC"/>
              </a:defRPr>
            </a:pPr>
            <a:r>
              <a:t>分层 LA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444752"/>
            <a:ext cx="6537960" cy="822960"/>
          </a:xfrm>
          <a:prstGeom prst="rect">
            <a:avLst/>
          </a:prstGeom>
          <a:noFill/>
        </p:spPr>
        <p:txBody>
          <a:bodyPr wrap="square" lIns="18288" rIns="18288" tIns="13716" bIns="13716" anchor="ctr">
            <a:spAutoFit/>
          </a:bodyPr>
          <a:lstStyle/>
          <a:p>
            <a:pPr algn="l">
              <a:spcAft>
                <a:spcPts val="200"/>
              </a:spcAft>
              <a:defRPr sz="3900" b="1">
                <a:solidFill>
                  <a:srgbClr val="F8FAFA"/>
                </a:solidFill>
                <a:latin typeface="Noto Sans CJK SC"/>
              </a:defRPr>
            </a:pPr>
            <a:r>
              <a:t>具身 Agent 框架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2432304"/>
            <a:ext cx="6510528" cy="502920"/>
          </a:xfrm>
          <a:prstGeom prst="rect">
            <a:avLst/>
          </a:prstGeom>
          <a:noFill/>
        </p:spPr>
        <p:txBody>
          <a:bodyPr wrap="square" lIns="18288" rIns="18288" tIns="13716" bIns="13716" anchor="ctr">
            <a:spAutoFit/>
          </a:bodyPr>
          <a:lstStyle/>
          <a:p>
            <a:pPr algn="l">
              <a:spcAft>
                <a:spcPts val="200"/>
              </a:spcAft>
              <a:defRPr sz="2100" b="0">
                <a:solidFill>
                  <a:srgbClr val="ADBFC9"/>
                </a:solidFill>
                <a:latin typeface="Noto Sans CJK SC"/>
              </a:defRPr>
            </a:pPr>
            <a:r>
              <a:t>从开放目标到可验证的机器人任务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3218688"/>
            <a:ext cx="6309360" cy="77724"/>
          </a:xfrm>
          <a:prstGeom prst="rect">
            <a:avLst/>
          </a:prstGeom>
          <a:solidFill>
            <a:srgbClr val="3FD7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66928" y="3538728"/>
            <a:ext cx="6492240" cy="685800"/>
          </a:xfrm>
          <a:prstGeom prst="rect">
            <a:avLst/>
          </a:prstGeom>
          <a:noFill/>
        </p:spPr>
        <p:txBody>
          <a:bodyPr wrap="square" lIns="18288" rIns="18288" tIns="13716" bIns="13716" anchor="ctr">
            <a:spAutoFit/>
          </a:bodyPr>
          <a:lstStyle/>
          <a:p>
            <a:pPr algn="l">
              <a:spcAft>
                <a:spcPts val="200"/>
              </a:spcAft>
              <a:defRPr sz="1800" b="0">
                <a:solidFill>
                  <a:srgbClr val="F8FAFA"/>
                </a:solidFill>
                <a:latin typeface="Noto Sans CJK SC"/>
              </a:defRPr>
            </a:pPr>
            <a:r>
              <a:t>架构实现 · 首版任务拆分 · 阶段 1 指标 · 我的工作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035040"/>
            <a:ext cx="6400800" cy="292608"/>
          </a:xfrm>
          <a:prstGeom prst="rect">
            <a:avLst/>
          </a:prstGeom>
          <a:noFill/>
        </p:spPr>
        <p:txBody>
          <a:bodyPr wrap="square" lIns="18288" rIns="18288" tIns="13716" bIns="13716" anchor="ctr">
            <a:spAutoFit/>
          </a:bodyPr>
          <a:lstStyle/>
          <a:p>
            <a:pPr algn="l">
              <a:spcAft>
                <a:spcPts val="200"/>
              </a:spcAft>
              <a:defRPr sz="1200" b="0">
                <a:solidFill>
                  <a:srgbClr val="ADBFC9"/>
                </a:solidFill>
                <a:latin typeface="Noto Sans CJK SC"/>
              </a:defRPr>
            </a:pPr>
            <a:r>
              <a:t>会议讨论材料  |  2026.09.15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65008" y="987552"/>
            <a:ext cx="566928" cy="384048"/>
          </a:xfrm>
          <a:prstGeom prst="roundRect">
            <a:avLst>
              <a:gd name="adj" fmla="val 8000"/>
            </a:avLst>
          </a:prstGeom>
          <a:solidFill>
            <a:srgbClr val="3FD7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110728" y="1005840"/>
            <a:ext cx="475488" cy="329184"/>
          </a:xfrm>
          <a:prstGeom prst="rect">
            <a:avLst/>
          </a:prstGeom>
          <a:noFill/>
        </p:spPr>
        <p:txBody>
          <a:bodyPr wrap="square" lIns="18288" rIns="18288" tIns="13716" bIns="13716" anchor="ctr">
            <a:spAutoFit/>
          </a:bodyPr>
          <a:lstStyle/>
          <a:p>
            <a:pPr algn="ctr">
              <a:spcAft>
                <a:spcPts val="200"/>
              </a:spcAft>
              <a:defRPr sz="1300" b="1">
                <a:solidFill>
                  <a:srgbClr val="0F1E30"/>
                </a:solidFill>
                <a:latin typeface="Noto Sans CJK SC"/>
              </a:defRPr>
            </a:pPr>
            <a:r>
              <a:t>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805672" y="969264"/>
            <a:ext cx="2697480" cy="393192"/>
          </a:xfrm>
          <a:prstGeom prst="rect">
            <a:avLst/>
          </a:prstGeom>
          <a:noFill/>
        </p:spPr>
        <p:txBody>
          <a:bodyPr wrap="square" lIns="18288" rIns="18288" tIns="13716" bIns="13716" anchor="ctr">
            <a:spAutoFit/>
          </a:bodyPr>
          <a:lstStyle/>
          <a:p>
            <a:pPr algn="l">
              <a:spcAft>
                <a:spcPts val="200"/>
              </a:spcAft>
              <a:defRPr sz="2100" b="1">
                <a:solidFill>
                  <a:srgbClr val="F8FAFA"/>
                </a:solidFill>
                <a:latin typeface="Noto Sans CJK SC"/>
              </a:defRPr>
            </a:pPr>
            <a:r>
              <a:t>目标与规划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805672" y="1435608"/>
            <a:ext cx="2697480" cy="411480"/>
          </a:xfrm>
          <a:prstGeom prst="rect">
            <a:avLst/>
          </a:prstGeom>
          <a:noFill/>
        </p:spPr>
        <p:txBody>
          <a:bodyPr wrap="square" lIns="18288" rIns="18288" tIns="13716" bIns="13716" anchor="ctr">
            <a:spAutoFit/>
          </a:bodyPr>
          <a:lstStyle/>
          <a:p>
            <a:pPr algn="l">
              <a:spcAft>
                <a:spcPts val="200"/>
              </a:spcAft>
              <a:defRPr sz="1300" b="0">
                <a:solidFill>
                  <a:srgbClr val="ADBFC9"/>
                </a:solidFill>
                <a:latin typeface="Noto Sans CJK SC"/>
              </a:defRPr>
            </a:pPr>
            <a:r>
              <a:t>秒—分钟：解释目标、生成 DAG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65008" y="2432304"/>
            <a:ext cx="566928" cy="384048"/>
          </a:xfrm>
          <a:prstGeom prst="roundRect">
            <a:avLst>
              <a:gd name="adj" fmla="val 8000"/>
            </a:avLst>
          </a:prstGeom>
          <a:solidFill>
            <a:srgbClr val="3FD7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110728" y="2450592"/>
            <a:ext cx="475488" cy="329184"/>
          </a:xfrm>
          <a:prstGeom prst="rect">
            <a:avLst/>
          </a:prstGeom>
          <a:noFill/>
        </p:spPr>
        <p:txBody>
          <a:bodyPr wrap="square" lIns="18288" rIns="18288" tIns="13716" bIns="13716" anchor="ctr">
            <a:spAutoFit/>
          </a:bodyPr>
          <a:lstStyle/>
          <a:p>
            <a:pPr algn="ctr">
              <a:spcAft>
                <a:spcPts val="200"/>
              </a:spcAft>
              <a:defRPr sz="1300" b="1">
                <a:solidFill>
                  <a:srgbClr val="0F1E30"/>
                </a:solidFill>
                <a:latin typeface="Noto Sans CJK SC"/>
              </a:defRPr>
            </a:pPr>
            <a:r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805672" y="2414016"/>
            <a:ext cx="2697480" cy="393192"/>
          </a:xfrm>
          <a:prstGeom prst="rect">
            <a:avLst/>
          </a:prstGeom>
          <a:noFill/>
        </p:spPr>
        <p:txBody>
          <a:bodyPr wrap="square" lIns="18288" rIns="18288" tIns="13716" bIns="13716" anchor="ctr">
            <a:spAutoFit/>
          </a:bodyPr>
          <a:lstStyle/>
          <a:p>
            <a:pPr algn="l">
              <a:spcAft>
                <a:spcPts val="200"/>
              </a:spcAft>
              <a:defRPr sz="2100" b="1">
                <a:solidFill>
                  <a:srgbClr val="F8FAFA"/>
                </a:solidFill>
                <a:latin typeface="Noto Sans CJK SC"/>
              </a:defRPr>
            </a:pPr>
            <a:r>
              <a:t>确定性执行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805672" y="2880360"/>
            <a:ext cx="2697480" cy="411480"/>
          </a:xfrm>
          <a:prstGeom prst="rect">
            <a:avLst/>
          </a:prstGeom>
          <a:noFill/>
        </p:spPr>
        <p:txBody>
          <a:bodyPr wrap="square" lIns="18288" rIns="18288" tIns="13716" bIns="13716" anchor="ctr">
            <a:spAutoFit/>
          </a:bodyPr>
          <a:lstStyle/>
          <a:p>
            <a:pPr algn="l">
              <a:spcAft>
                <a:spcPts val="200"/>
              </a:spcAft>
              <a:defRPr sz="1300" b="0">
                <a:solidFill>
                  <a:srgbClr val="ADBFC9"/>
                </a:solidFill>
                <a:latin typeface="Noto Sans CJK SC"/>
              </a:defRPr>
            </a:pPr>
            <a:r>
              <a:t>毫秒—秒：契约、资源、恢复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65008" y="3877056"/>
            <a:ext cx="566928" cy="384048"/>
          </a:xfrm>
          <a:prstGeom prst="roundRect">
            <a:avLst>
              <a:gd name="adj" fmla="val 8000"/>
            </a:avLst>
          </a:prstGeom>
          <a:solidFill>
            <a:srgbClr val="3FD7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110728" y="3895344"/>
            <a:ext cx="475488" cy="329184"/>
          </a:xfrm>
          <a:prstGeom prst="rect">
            <a:avLst/>
          </a:prstGeom>
          <a:noFill/>
        </p:spPr>
        <p:txBody>
          <a:bodyPr wrap="square" lIns="18288" rIns="18288" tIns="13716" bIns="13716" anchor="ctr">
            <a:spAutoFit/>
          </a:bodyPr>
          <a:lstStyle/>
          <a:p>
            <a:pPr algn="ctr">
              <a:spcAft>
                <a:spcPts val="200"/>
              </a:spcAft>
              <a:defRPr sz="1300" b="1">
                <a:solidFill>
                  <a:srgbClr val="0F1E30"/>
                </a:solidFill>
                <a:latin typeface="Noto Sans CJK SC"/>
              </a:defRPr>
            </a:pPr>
            <a:r>
              <a:t>03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805672" y="3858768"/>
            <a:ext cx="2697480" cy="393192"/>
          </a:xfrm>
          <a:prstGeom prst="rect">
            <a:avLst/>
          </a:prstGeom>
          <a:noFill/>
        </p:spPr>
        <p:txBody>
          <a:bodyPr wrap="square" lIns="18288" rIns="18288" tIns="13716" bIns="13716" anchor="ctr">
            <a:spAutoFit/>
          </a:bodyPr>
          <a:lstStyle/>
          <a:p>
            <a:pPr algn="l">
              <a:spcAft>
                <a:spcPts val="200"/>
              </a:spcAft>
              <a:defRPr sz="2100" b="1">
                <a:solidFill>
                  <a:srgbClr val="F8FAFA"/>
                </a:solidFill>
                <a:latin typeface="Noto Sans CJK SC"/>
              </a:defRPr>
            </a:pPr>
            <a:r>
              <a:t>控制与证据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805672" y="4325112"/>
            <a:ext cx="2697480" cy="411480"/>
          </a:xfrm>
          <a:prstGeom prst="rect">
            <a:avLst/>
          </a:prstGeom>
          <a:noFill/>
        </p:spPr>
        <p:txBody>
          <a:bodyPr wrap="square" lIns="18288" rIns="18288" tIns="13716" bIns="13716" anchor="ctr">
            <a:spAutoFit/>
          </a:bodyPr>
          <a:lstStyle/>
          <a:p>
            <a:pPr algn="l">
              <a:spcAft>
                <a:spcPts val="200"/>
              </a:spcAft>
              <a:defRPr sz="1300" b="0">
                <a:solidFill>
                  <a:srgbClr val="ADBFC9"/>
                </a:solidFill>
                <a:latin typeface="Noto Sans CJK SC"/>
              </a:defRPr>
            </a:pPr>
            <a:r>
              <a:t>实时控制、独立验证与安全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E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3FD7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19456"/>
            <a:ext cx="9601200" cy="237744"/>
          </a:xfrm>
          <a:prstGeom prst="rect">
            <a:avLst/>
          </a:prstGeom>
          <a:noFill/>
        </p:spPr>
        <p:txBody>
          <a:bodyPr wrap="square" lIns="18288" rIns="18288" tIns="13716" bIns="13716" anchor="ctr">
            <a:spAutoFit/>
          </a:bodyPr>
          <a:lstStyle/>
          <a:p>
            <a:pPr algn="l">
              <a:spcAft>
                <a:spcPts val="200"/>
              </a:spcAft>
              <a:defRPr sz="1000" b="1">
                <a:solidFill>
                  <a:srgbClr val="3FD7C0"/>
                </a:solidFill>
                <a:latin typeface="Noto Sans CJK SC"/>
              </a:defRPr>
            </a:pPr>
            <a:r>
              <a:t>01 / 定位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76072"/>
            <a:ext cx="11109960" cy="530352"/>
          </a:xfrm>
          <a:prstGeom prst="rect">
            <a:avLst/>
          </a:prstGeom>
          <a:noFill/>
        </p:spPr>
        <p:txBody>
          <a:bodyPr wrap="square" lIns="18288" rIns="18288" tIns="13716" bIns="13716" anchor="ctr">
            <a:spAutoFit/>
          </a:bodyPr>
          <a:lstStyle/>
          <a:p>
            <a:pPr algn="l">
              <a:spcAft>
                <a:spcPts val="200"/>
              </a:spcAft>
              <a:defRPr sz="2600" b="1">
                <a:solidFill>
                  <a:srgbClr val="F8FAFA"/>
                </a:solidFill>
                <a:latin typeface="Noto Sans CJK SC"/>
              </a:defRPr>
            </a:pPr>
            <a:r>
              <a:t>一句话定位：模型提议，框架裁决，机器人执行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457200" y="1216152"/>
            <a:ext cx="11274552" cy="0"/>
          </a:xfrm>
          <a:prstGeom prst="line">
            <a:avLst/>
          </a:prstGeom>
          <a:ln w="12700">
            <a:solidFill>
              <a:srgbClr val="3A4F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457200" y="6510528"/>
            <a:ext cx="10789920" cy="192024"/>
          </a:xfrm>
          <a:prstGeom prst="rect">
            <a:avLst/>
          </a:prstGeom>
          <a:noFill/>
        </p:spPr>
        <p:txBody>
          <a:bodyPr wrap="square" lIns="18288" rIns="18288" tIns="13716" bIns="13716" anchor="ctr">
            <a:spAutoFit/>
          </a:bodyPr>
          <a:lstStyle/>
          <a:p>
            <a:pPr algn="l">
              <a:spcAft>
                <a:spcPts val="200"/>
              </a:spcAft>
              <a:defRPr sz="800" b="0">
                <a:solidFill>
                  <a:srgbClr val="ADBFC9"/>
                </a:solidFill>
                <a:latin typeface="Noto Sans CJK SC"/>
              </a:defRPr>
            </a:pPr>
            <a:r>
              <a:t>依据：docs/DETAILED_ARCHITECTURE.md；docs/ARCHITECTURE.md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01400" y="6464808"/>
            <a:ext cx="457200" cy="256032"/>
          </a:xfrm>
          <a:prstGeom prst="rect">
            <a:avLst/>
          </a:prstGeom>
          <a:noFill/>
        </p:spPr>
        <p:txBody>
          <a:bodyPr wrap="square" lIns="18288" rIns="18288" tIns="13716" bIns="13716" anchor="ctr">
            <a:spAutoFit/>
          </a:bodyPr>
          <a:lstStyle/>
          <a:p>
            <a:pPr algn="r">
              <a:spcAft>
                <a:spcPts val="200"/>
              </a:spcAft>
              <a:defRPr sz="1000" b="1">
                <a:solidFill>
                  <a:srgbClr val="3FD7C0"/>
                </a:solidFill>
                <a:latin typeface="Noto Sans CJK SC"/>
              </a:defRPr>
            </a:pPr>
            <a:r>
              <a:t>02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600200"/>
            <a:ext cx="3566160" cy="3493008"/>
          </a:xfrm>
          <a:prstGeom prst="roundRect">
            <a:avLst>
              <a:gd name="adj" fmla="val 8000"/>
            </a:avLst>
          </a:prstGeom>
          <a:solidFill>
            <a:srgbClr val="1C32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" y="1764792"/>
            <a:ext cx="54864" cy="347472"/>
          </a:xfrm>
          <a:prstGeom prst="rect">
            <a:avLst/>
          </a:prstGeom>
          <a:solidFill>
            <a:srgbClr val="3FD7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86384" y="1737360"/>
            <a:ext cx="3127248" cy="420624"/>
          </a:xfrm>
          <a:prstGeom prst="rect">
            <a:avLst/>
          </a:prstGeom>
          <a:noFill/>
        </p:spPr>
        <p:txBody>
          <a:bodyPr wrap="square" lIns="18288" rIns="18288" tIns="13716" bIns="13716" anchor="ctr">
            <a:spAutoFit/>
          </a:bodyPr>
          <a:lstStyle/>
          <a:p>
            <a:pPr algn="l">
              <a:spcAft>
                <a:spcPts val="200"/>
              </a:spcAft>
              <a:defRPr sz="1800" b="1">
                <a:solidFill>
                  <a:srgbClr val="F8FAFA"/>
                </a:solidFill>
                <a:latin typeface="Noto Sans CJK SC"/>
              </a:defRPr>
            </a:pPr>
            <a:r>
              <a:t>上层：LA / 语义与计划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04088" y="2267712"/>
            <a:ext cx="3163824" cy="2679191"/>
          </a:xfrm>
          <a:prstGeom prst="rect">
            <a:avLst/>
          </a:prstGeom>
          <a:noFill/>
        </p:spPr>
        <p:txBody>
          <a:bodyPr wrap="square" lIns="18288" rIns="18288" tIns="13716" bIns="13716" anchor="t">
            <a:spAutoFit/>
          </a:bodyPr>
          <a:lstStyle/>
          <a:p>
            <a:pPr algn="l">
              <a:spcAft>
                <a:spcPts val="200"/>
              </a:spcAft>
              <a:defRPr sz="1800" b="0">
                <a:solidFill>
                  <a:srgbClr val="ADBFC9"/>
                </a:solidFill>
                <a:latin typeface="Noto Sans CJK SC"/>
              </a:defRPr>
            </a:pPr>
            <a:r>
              <a:t>解释用户目标，构造上下文，生成候选任务 DAG。</a:t>
            </a:r>
          </a:p>
          <a:p>
            <a:pPr algn="l">
              <a:spcAft>
                <a:spcPts val="200"/>
              </a:spcAft>
              <a:defRPr sz="1800" b="0">
                <a:solidFill>
                  <a:srgbClr val="ADBFC9"/>
                </a:solidFill>
                <a:latin typeface="Noto Sans CJK SC"/>
              </a:defRPr>
            </a:pPr>
          </a:p>
          <a:p>
            <a:pPr algn="l">
              <a:spcAft>
                <a:spcPts val="200"/>
              </a:spcAft>
              <a:defRPr sz="1800" b="0">
                <a:solidFill>
                  <a:srgbClr val="ADBFC9"/>
                </a:solidFill>
                <a:latin typeface="Noto Sans CJK SC"/>
              </a:defRPr>
            </a:pPr>
            <a:r>
              <a:t>不直接发关节/速度命令。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15968" y="1600200"/>
            <a:ext cx="3566160" cy="3493008"/>
          </a:xfrm>
          <a:prstGeom prst="roundRect">
            <a:avLst>
              <a:gd name="adj" fmla="val 8000"/>
            </a:avLst>
          </a:prstGeom>
          <a:solidFill>
            <a:srgbClr val="1C32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453128" y="1764792"/>
            <a:ext cx="54864" cy="347472"/>
          </a:xfrm>
          <a:prstGeom prst="rect">
            <a:avLst/>
          </a:prstGeom>
          <a:solidFill>
            <a:srgbClr val="F6C2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99431" y="1737360"/>
            <a:ext cx="3127248" cy="420624"/>
          </a:xfrm>
          <a:prstGeom prst="rect">
            <a:avLst/>
          </a:prstGeom>
          <a:noFill/>
        </p:spPr>
        <p:txBody>
          <a:bodyPr wrap="square" lIns="18288" rIns="18288" tIns="13716" bIns="13716" anchor="ctr">
            <a:spAutoFit/>
          </a:bodyPr>
          <a:lstStyle/>
          <a:p>
            <a:pPr algn="l">
              <a:spcAft>
                <a:spcPts val="200"/>
              </a:spcAft>
              <a:defRPr sz="1800" b="1">
                <a:solidFill>
                  <a:srgbClr val="F8FAFA"/>
                </a:solidFill>
                <a:latin typeface="Noto Sans CJK SC"/>
              </a:defRPr>
            </a:pPr>
            <a:r>
              <a:t>中层：确定性 Runtime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17136" y="2267712"/>
            <a:ext cx="3163824" cy="2679191"/>
          </a:xfrm>
          <a:prstGeom prst="rect">
            <a:avLst/>
          </a:prstGeom>
          <a:noFill/>
        </p:spPr>
        <p:txBody>
          <a:bodyPr wrap="square" lIns="18288" rIns="18288" tIns="13716" bIns="13716" anchor="t">
            <a:spAutoFit/>
          </a:bodyPr>
          <a:lstStyle/>
          <a:p>
            <a:pPr algn="l">
              <a:spcAft>
                <a:spcPts val="200"/>
              </a:spcAft>
              <a:defRPr sz="1800" b="0">
                <a:solidFill>
                  <a:srgbClr val="ADBFC9"/>
                </a:solidFill>
                <a:latin typeface="Noto Sans CJK SC"/>
              </a:defRPr>
            </a:pPr>
            <a:r>
              <a:t>校验计划，冻结技能，管理依赖、资源、执行 ID、恢复与结果。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29016" y="1600200"/>
            <a:ext cx="3566160" cy="3493008"/>
          </a:xfrm>
          <a:prstGeom prst="roundRect">
            <a:avLst>
              <a:gd name="adj" fmla="val 8000"/>
            </a:avLst>
          </a:prstGeom>
          <a:solidFill>
            <a:srgbClr val="1C32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266176" y="1764792"/>
            <a:ext cx="54864" cy="347472"/>
          </a:xfrm>
          <a:prstGeom prst="rect">
            <a:avLst/>
          </a:prstGeom>
          <a:solidFill>
            <a:srgbClr val="F57D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412480" y="1737360"/>
            <a:ext cx="3127248" cy="420624"/>
          </a:xfrm>
          <a:prstGeom prst="rect">
            <a:avLst/>
          </a:prstGeom>
          <a:noFill/>
        </p:spPr>
        <p:txBody>
          <a:bodyPr wrap="square" lIns="18288" rIns="18288" tIns="13716" bIns="13716" anchor="ctr">
            <a:spAutoFit/>
          </a:bodyPr>
          <a:lstStyle/>
          <a:p>
            <a:pPr algn="l">
              <a:spcAft>
                <a:spcPts val="200"/>
              </a:spcAft>
              <a:defRPr sz="1800" b="1">
                <a:solidFill>
                  <a:srgbClr val="F8FAFA"/>
                </a:solidFill>
                <a:latin typeface="Noto Sans CJK SC"/>
              </a:defRPr>
            </a:pPr>
            <a:r>
              <a:t>底层：控制器 + 安全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30184" y="2267712"/>
            <a:ext cx="3163824" cy="2679191"/>
          </a:xfrm>
          <a:prstGeom prst="rect">
            <a:avLst/>
          </a:prstGeom>
          <a:noFill/>
        </p:spPr>
        <p:txBody>
          <a:bodyPr wrap="square" lIns="18288" rIns="18288" tIns="13716" bIns="13716" anchor="t">
            <a:spAutoFit/>
          </a:bodyPr>
          <a:lstStyle/>
          <a:p>
            <a:pPr algn="l">
              <a:spcAft>
                <a:spcPts val="200"/>
              </a:spcAft>
              <a:defRPr sz="1800" b="0">
                <a:solidFill>
                  <a:srgbClr val="ADBFC9"/>
                </a:solidFill>
                <a:latin typeface="Noto Sans CJK SC"/>
              </a:defRPr>
            </a:pPr>
            <a:r>
              <a:t>ROS2/机器人适配器执行动作。阶段 1 目标：控制端拒绝旧权威；硬件安全链路独立。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02920" y="5367528"/>
            <a:ext cx="11192256" cy="694944"/>
          </a:xfrm>
          <a:prstGeom prst="roundRect">
            <a:avLst>
              <a:gd name="adj" fmla="val 8000"/>
            </a:avLst>
          </a:prstGeom>
          <a:solidFill>
            <a:srgbClr val="192C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49808" y="5522976"/>
            <a:ext cx="10744200" cy="384048"/>
          </a:xfrm>
          <a:prstGeom prst="rect">
            <a:avLst/>
          </a:prstGeom>
          <a:noFill/>
        </p:spPr>
        <p:txBody>
          <a:bodyPr wrap="square" lIns="18288" rIns="18288" tIns="13716" bIns="13716" anchor="ctr">
            <a:spAutoFit/>
          </a:bodyPr>
          <a:lstStyle/>
          <a:p>
            <a:pPr algn="l">
              <a:spcAft>
                <a:spcPts val="200"/>
              </a:spcAft>
              <a:defRPr sz="1900" b="1">
                <a:solidFill>
                  <a:srgbClr val="F8FAFA"/>
                </a:solidFill>
                <a:latin typeface="Noto Sans CJK SC"/>
              </a:defRPr>
            </a:pPr>
            <a:r>
              <a:t>判定原则：HTTP 200 ≠ 技能成功；模型计划合法 ≠ 机器人目标完成。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E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3FD7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19456"/>
            <a:ext cx="9601200" cy="237744"/>
          </a:xfrm>
          <a:prstGeom prst="rect">
            <a:avLst/>
          </a:prstGeom>
          <a:noFill/>
        </p:spPr>
        <p:txBody>
          <a:bodyPr wrap="square" lIns="18288" rIns="18288" tIns="13716" bIns="13716" anchor="ctr">
            <a:spAutoFit/>
          </a:bodyPr>
          <a:lstStyle/>
          <a:p>
            <a:pPr algn="l">
              <a:spcAft>
                <a:spcPts val="200"/>
              </a:spcAft>
              <a:defRPr sz="1000" b="1">
                <a:solidFill>
                  <a:srgbClr val="3FD7C0"/>
                </a:solidFill>
                <a:latin typeface="Noto Sans CJK SC"/>
              </a:defRPr>
            </a:pPr>
            <a:r>
              <a:t>02 / 总体架构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76072"/>
            <a:ext cx="11109960" cy="530352"/>
          </a:xfrm>
          <a:prstGeom prst="rect">
            <a:avLst/>
          </a:prstGeom>
          <a:noFill/>
        </p:spPr>
        <p:txBody>
          <a:bodyPr wrap="square" lIns="18288" rIns="18288" tIns="13716" bIns="13716" anchor="ctr">
            <a:spAutoFit/>
          </a:bodyPr>
          <a:lstStyle/>
          <a:p>
            <a:pPr algn="l">
              <a:spcAft>
                <a:spcPts val="200"/>
              </a:spcAft>
              <a:defRPr sz="2600" b="1">
                <a:solidFill>
                  <a:srgbClr val="F8FAFA"/>
                </a:solidFill>
                <a:latin typeface="Noto Sans CJK SC"/>
              </a:defRPr>
            </a:pPr>
            <a:r>
              <a:t>分层目标架构：四个平面，各有权威数据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457200" y="1216152"/>
            <a:ext cx="11274552" cy="0"/>
          </a:xfrm>
          <a:prstGeom prst="line">
            <a:avLst/>
          </a:prstGeom>
          <a:ln w="12700">
            <a:solidFill>
              <a:srgbClr val="3A4F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457200" y="6510528"/>
            <a:ext cx="10789920" cy="192024"/>
          </a:xfrm>
          <a:prstGeom prst="rect">
            <a:avLst/>
          </a:prstGeom>
          <a:noFill/>
        </p:spPr>
        <p:txBody>
          <a:bodyPr wrap="square" lIns="18288" rIns="18288" tIns="13716" bIns="13716" anchor="ctr">
            <a:spAutoFit/>
          </a:bodyPr>
          <a:lstStyle/>
          <a:p>
            <a:pPr algn="l">
              <a:spcAft>
                <a:spcPts val="200"/>
              </a:spcAft>
              <a:defRPr sz="800" b="0">
                <a:solidFill>
                  <a:srgbClr val="ADBFC9"/>
                </a:solidFill>
                <a:latin typeface="Noto Sans CJK SC"/>
              </a:defRPr>
            </a:pPr>
            <a:r>
              <a:t>依据：docs/DETAILED_ARCHITECTURE.md §3；docs/PROJECT_STATUS.md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01400" y="6464808"/>
            <a:ext cx="457200" cy="256032"/>
          </a:xfrm>
          <a:prstGeom prst="rect">
            <a:avLst/>
          </a:prstGeom>
          <a:noFill/>
        </p:spPr>
        <p:txBody>
          <a:bodyPr wrap="square" lIns="18288" rIns="18288" tIns="13716" bIns="13716" anchor="ctr">
            <a:spAutoFit/>
          </a:bodyPr>
          <a:lstStyle/>
          <a:p>
            <a:pPr algn="r">
              <a:spcAft>
                <a:spcPts val="200"/>
              </a:spcAft>
              <a:defRPr sz="1000" b="1">
                <a:solidFill>
                  <a:srgbClr val="3FD7C0"/>
                </a:solidFill>
                <a:latin typeface="Noto Sans CJK SC"/>
              </a:defRPr>
            </a:pPr>
            <a:r>
              <a:t>03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527048"/>
            <a:ext cx="11100816" cy="923544"/>
          </a:xfrm>
          <a:prstGeom prst="roundRect">
            <a:avLst>
              <a:gd name="adj" fmla="val 8000"/>
            </a:avLst>
          </a:prstGeom>
          <a:solidFill>
            <a:srgbClr val="1C32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1527048"/>
            <a:ext cx="91440" cy="923544"/>
          </a:xfrm>
          <a:prstGeom prst="rect">
            <a:avLst/>
          </a:prstGeom>
          <a:solidFill>
            <a:srgbClr val="3FD7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1673351"/>
            <a:ext cx="2221992" cy="393192"/>
          </a:xfrm>
          <a:prstGeom prst="rect">
            <a:avLst/>
          </a:prstGeom>
          <a:noFill/>
        </p:spPr>
        <p:txBody>
          <a:bodyPr wrap="square" lIns="18288" rIns="18288" tIns="13716" bIns="13716" anchor="ctr">
            <a:spAutoFit/>
          </a:bodyPr>
          <a:lstStyle/>
          <a:p>
            <a:pPr algn="l">
              <a:spcAft>
                <a:spcPts val="200"/>
              </a:spcAft>
              <a:defRPr sz="1800" b="1">
                <a:solidFill>
                  <a:srgbClr val="F8FAFA"/>
                </a:solidFill>
                <a:latin typeface="Noto Sans CJK SC"/>
              </a:defRPr>
            </a:pPr>
            <a:r>
              <a:t>Agent 控制平面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852928" y="1600200"/>
            <a:ext cx="5779008" cy="722376"/>
          </a:xfrm>
          <a:prstGeom prst="rect">
            <a:avLst/>
          </a:prstGeom>
          <a:noFill/>
        </p:spPr>
        <p:txBody>
          <a:bodyPr wrap="square" lIns="18288" rIns="18288" tIns="13716" bIns="13716" anchor="ctr">
            <a:spAutoFit/>
          </a:bodyPr>
          <a:lstStyle/>
          <a:p>
            <a:pPr algn="l">
              <a:spcAft>
                <a:spcPts val="200"/>
              </a:spcAft>
              <a:defRPr sz="1600" b="0">
                <a:solidFill>
                  <a:srgbClr val="F8FAFA"/>
                </a:solidFill>
                <a:latin typeface="Noto Sans CJK SC"/>
              </a:defRPr>
            </a:pPr>
            <a:r>
              <a:t>Goal → Context → Planner → Validator → Runtime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0" y="1636776"/>
            <a:ext cx="2706624" cy="649224"/>
          </a:xfrm>
          <a:prstGeom prst="rect">
            <a:avLst/>
          </a:prstGeom>
          <a:noFill/>
        </p:spPr>
        <p:txBody>
          <a:bodyPr wrap="square" lIns="18288" rIns="18288" tIns="13716" bIns="13716" anchor="ctr">
            <a:spAutoFit/>
          </a:bodyPr>
          <a:lstStyle/>
          <a:p>
            <a:pPr algn="l">
              <a:spcAft>
                <a:spcPts val="200"/>
              </a:spcAft>
              <a:defRPr sz="1300" b="0">
                <a:solidFill>
                  <a:srgbClr val="ADBFC9"/>
                </a:solidFill>
                <a:latin typeface="Noto Sans CJK SC"/>
              </a:defRPr>
            </a:pPr>
            <a:r>
              <a:t>Task / Plan / Execution / Resource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2670048"/>
            <a:ext cx="11100816" cy="923544"/>
          </a:xfrm>
          <a:prstGeom prst="roundRect">
            <a:avLst>
              <a:gd name="adj" fmla="val 8000"/>
            </a:avLst>
          </a:prstGeom>
          <a:solidFill>
            <a:srgbClr val="1C32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48640" y="2670048"/>
            <a:ext cx="91440" cy="923544"/>
          </a:xfrm>
          <a:prstGeom prst="rect">
            <a:avLst/>
          </a:prstGeom>
          <a:solidFill>
            <a:srgbClr val="F6C2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60" y="2816352"/>
            <a:ext cx="2221992" cy="393192"/>
          </a:xfrm>
          <a:prstGeom prst="rect">
            <a:avLst/>
          </a:prstGeom>
          <a:noFill/>
        </p:spPr>
        <p:txBody>
          <a:bodyPr wrap="square" lIns="18288" rIns="18288" tIns="13716" bIns="13716" anchor="ctr">
            <a:spAutoFit/>
          </a:bodyPr>
          <a:lstStyle/>
          <a:p>
            <a:pPr algn="l">
              <a:spcAft>
                <a:spcPts val="200"/>
              </a:spcAft>
              <a:defRPr sz="1800" b="1">
                <a:solidFill>
                  <a:srgbClr val="F8FAFA"/>
                </a:solidFill>
                <a:latin typeface="Noto Sans CJK SC"/>
              </a:defRPr>
            </a:pPr>
            <a:r>
              <a:t>机器人适配平面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852928" y="2743200"/>
            <a:ext cx="5779008" cy="722376"/>
          </a:xfrm>
          <a:prstGeom prst="rect">
            <a:avLst/>
          </a:prstGeom>
          <a:noFill/>
        </p:spPr>
        <p:txBody>
          <a:bodyPr wrap="square" lIns="18288" rIns="18288" tIns="13716" bIns="13716" anchor="ctr">
            <a:spAutoFit/>
          </a:bodyPr>
          <a:lstStyle/>
          <a:p>
            <a:pPr algn="l">
              <a:spcAft>
                <a:spcPts val="200"/>
              </a:spcAft>
              <a:defRPr sz="1600" b="0">
                <a:solidFill>
                  <a:srgbClr val="F8FAFA"/>
                </a:solidFill>
                <a:latin typeface="Noto Sans CJK SC"/>
              </a:defRPr>
            </a:pPr>
            <a:r>
              <a:t>Skill Registry → HTTP / ROS2 Action → 控制器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0" y="2779776"/>
            <a:ext cx="2706624" cy="649224"/>
          </a:xfrm>
          <a:prstGeom prst="rect">
            <a:avLst/>
          </a:prstGeom>
          <a:noFill/>
        </p:spPr>
        <p:txBody>
          <a:bodyPr wrap="square" lIns="18288" rIns="18288" tIns="13716" bIns="13716" anchor="ctr">
            <a:spAutoFit/>
          </a:bodyPr>
          <a:lstStyle/>
          <a:p>
            <a:pPr algn="l">
              <a:spcAft>
                <a:spcPts val="200"/>
              </a:spcAft>
              <a:defRPr sz="1300" b="0">
                <a:solidFill>
                  <a:srgbClr val="ADBFC9"/>
                </a:solidFill>
                <a:latin typeface="Noto Sans CJK SC"/>
              </a:defRPr>
            </a:pPr>
            <a:r>
              <a:t>远端执行状态 / 动作反馈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3813048"/>
            <a:ext cx="11100816" cy="923544"/>
          </a:xfrm>
          <a:prstGeom prst="roundRect">
            <a:avLst>
              <a:gd name="adj" fmla="val 8000"/>
            </a:avLst>
          </a:prstGeom>
          <a:solidFill>
            <a:srgbClr val="1C32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48640" y="3813048"/>
            <a:ext cx="91440" cy="923544"/>
          </a:xfrm>
          <a:prstGeom prst="rect">
            <a:avLst/>
          </a:prstGeom>
          <a:solidFill>
            <a:srgbClr val="87B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2960" y="3959352"/>
            <a:ext cx="2221992" cy="393192"/>
          </a:xfrm>
          <a:prstGeom prst="rect">
            <a:avLst/>
          </a:prstGeom>
          <a:noFill/>
        </p:spPr>
        <p:txBody>
          <a:bodyPr wrap="square" lIns="18288" rIns="18288" tIns="13716" bIns="13716" anchor="ctr">
            <a:spAutoFit/>
          </a:bodyPr>
          <a:lstStyle/>
          <a:p>
            <a:pPr algn="l">
              <a:spcAft>
                <a:spcPts val="200"/>
              </a:spcAft>
              <a:defRPr sz="1800" b="1">
                <a:solidFill>
                  <a:srgbClr val="F8FAFA"/>
                </a:solidFill>
                <a:latin typeface="Noto Sans CJK SC"/>
              </a:defRPr>
            </a:pPr>
            <a:r>
              <a:t>证据数据平面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852928" y="3886200"/>
            <a:ext cx="5779008" cy="722376"/>
          </a:xfrm>
          <a:prstGeom prst="rect">
            <a:avLst/>
          </a:prstGeom>
          <a:noFill/>
        </p:spPr>
        <p:txBody>
          <a:bodyPr wrap="square" lIns="18288" rIns="18288" tIns="13716" bIns="13716" anchor="ctr">
            <a:spAutoFit/>
          </a:bodyPr>
          <a:lstStyle/>
          <a:p>
            <a:pPr algn="l">
              <a:spcAft>
                <a:spcPts val="200"/>
              </a:spcAft>
              <a:defRPr sz="1600" b="0">
                <a:solidFill>
                  <a:srgbClr val="F8FAFA"/>
                </a:solidFill>
                <a:latin typeface="Noto Sans CJK SC"/>
              </a:defRPr>
            </a:pPr>
            <a:r>
              <a:t>事件账本 → MCAP / rosbag2 → Asset / Memory → UI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86800" y="3922776"/>
            <a:ext cx="2706624" cy="649224"/>
          </a:xfrm>
          <a:prstGeom prst="rect">
            <a:avLst/>
          </a:prstGeom>
          <a:noFill/>
        </p:spPr>
        <p:txBody>
          <a:bodyPr wrap="square" lIns="18288" rIns="18288" tIns="13716" bIns="13716" anchor="ctr">
            <a:spAutoFit/>
          </a:bodyPr>
          <a:lstStyle/>
          <a:p>
            <a:pPr algn="l">
              <a:spcAft>
                <a:spcPts val="200"/>
              </a:spcAft>
              <a:defRPr sz="1300" b="0">
                <a:solidFill>
                  <a:srgbClr val="ADBFC9"/>
                </a:solidFill>
                <a:latin typeface="Noto Sans CJK SC"/>
              </a:defRPr>
            </a:pPr>
            <a:r>
              <a:t>观测 / 资产 / 验证来源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48640" y="4956048"/>
            <a:ext cx="11100816" cy="923544"/>
          </a:xfrm>
          <a:prstGeom prst="roundRect">
            <a:avLst>
              <a:gd name="adj" fmla="val 8000"/>
            </a:avLst>
          </a:prstGeom>
          <a:solidFill>
            <a:srgbClr val="1C32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48640" y="4956048"/>
            <a:ext cx="91440" cy="923544"/>
          </a:xfrm>
          <a:prstGeom prst="rect">
            <a:avLst/>
          </a:prstGeom>
          <a:solidFill>
            <a:srgbClr val="F57D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2960" y="5102352"/>
            <a:ext cx="2221992" cy="393192"/>
          </a:xfrm>
          <a:prstGeom prst="rect">
            <a:avLst/>
          </a:prstGeom>
          <a:noFill/>
        </p:spPr>
        <p:txBody>
          <a:bodyPr wrap="square" lIns="18288" rIns="18288" tIns="13716" bIns="13716" anchor="ctr">
            <a:spAutoFit/>
          </a:bodyPr>
          <a:lstStyle/>
          <a:p>
            <a:pPr algn="l">
              <a:spcAft>
                <a:spcPts val="200"/>
              </a:spcAft>
              <a:defRPr sz="1800" b="1">
                <a:solidFill>
                  <a:srgbClr val="F8FAFA"/>
                </a:solidFill>
                <a:latin typeface="Noto Sans CJK SC"/>
              </a:defRPr>
            </a:pPr>
            <a:r>
              <a:t>独立安全平面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852928" y="5029200"/>
            <a:ext cx="5779008" cy="722376"/>
          </a:xfrm>
          <a:prstGeom prst="rect">
            <a:avLst/>
          </a:prstGeom>
          <a:noFill/>
        </p:spPr>
        <p:txBody>
          <a:bodyPr wrap="square" lIns="18288" rIns="18288" tIns="13716" bIns="13716" anchor="ctr">
            <a:spAutoFit/>
          </a:bodyPr>
          <a:lstStyle/>
          <a:p>
            <a:pPr algn="l">
              <a:spcAft>
                <a:spcPts val="200"/>
              </a:spcAft>
              <a:defRPr sz="1600" b="0">
                <a:solidFill>
                  <a:srgbClr val="F8FAFA"/>
                </a:solidFill>
                <a:latin typeface="Noto Sans CJK SC"/>
              </a:defRPr>
            </a:pPr>
            <a:r>
              <a:t>限幅 / 急停 / Watchdog / 控制权校验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686800" y="5065776"/>
            <a:ext cx="2706624" cy="649224"/>
          </a:xfrm>
          <a:prstGeom prst="rect">
            <a:avLst/>
          </a:prstGeom>
          <a:noFill/>
        </p:spPr>
        <p:txBody>
          <a:bodyPr wrap="square" lIns="18288" rIns="18288" tIns="13716" bIns="13716" anchor="ctr">
            <a:spAutoFit/>
          </a:bodyPr>
          <a:lstStyle/>
          <a:p>
            <a:pPr algn="l">
              <a:spcAft>
                <a:spcPts val="200"/>
              </a:spcAft>
              <a:defRPr sz="1300" b="0">
                <a:solidFill>
                  <a:srgbClr val="ADBFC9"/>
                </a:solidFill>
                <a:latin typeface="Noto Sans CJK SC"/>
              </a:defRPr>
            </a:pPr>
            <a:r>
              <a:t>物理安全状态；不依赖 LLM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E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3FD7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19456"/>
            <a:ext cx="9601200" cy="237744"/>
          </a:xfrm>
          <a:prstGeom prst="rect">
            <a:avLst/>
          </a:prstGeom>
          <a:noFill/>
        </p:spPr>
        <p:txBody>
          <a:bodyPr wrap="square" lIns="18288" rIns="18288" tIns="13716" bIns="13716" anchor="ctr">
            <a:spAutoFit/>
          </a:bodyPr>
          <a:lstStyle/>
          <a:p>
            <a:pPr algn="l">
              <a:spcAft>
                <a:spcPts val="200"/>
              </a:spcAft>
              <a:defRPr sz="1000" b="1">
                <a:solidFill>
                  <a:srgbClr val="3FD7C0"/>
                </a:solidFill>
                <a:latin typeface="Noto Sans CJK SC"/>
              </a:defRPr>
            </a:pPr>
            <a:r>
              <a:t>03 / 现状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76072"/>
            <a:ext cx="11109960" cy="530352"/>
          </a:xfrm>
          <a:prstGeom prst="rect">
            <a:avLst/>
          </a:prstGeom>
          <a:noFill/>
        </p:spPr>
        <p:txBody>
          <a:bodyPr wrap="square" lIns="18288" rIns="18288" tIns="13716" bIns="13716" anchor="ctr">
            <a:spAutoFit/>
          </a:bodyPr>
          <a:lstStyle/>
          <a:p>
            <a:pPr algn="l">
              <a:spcAft>
                <a:spcPts val="200"/>
              </a:spcAft>
              <a:defRPr sz="2600" b="1">
                <a:solidFill>
                  <a:srgbClr val="F8FAFA"/>
                </a:solidFill>
                <a:latin typeface="Noto Sans CJK SC"/>
              </a:defRPr>
            </a:pPr>
            <a:r>
              <a:t>当前站位：软件骨架可运行，机器人闭环尚未验收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457200" y="1216152"/>
            <a:ext cx="11274552" cy="0"/>
          </a:xfrm>
          <a:prstGeom prst="line">
            <a:avLst/>
          </a:prstGeom>
          <a:ln w="12700">
            <a:solidFill>
              <a:srgbClr val="3A4F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457200" y="6510528"/>
            <a:ext cx="10789920" cy="192024"/>
          </a:xfrm>
          <a:prstGeom prst="rect">
            <a:avLst/>
          </a:prstGeom>
          <a:noFill/>
        </p:spPr>
        <p:txBody>
          <a:bodyPr wrap="square" lIns="18288" rIns="18288" tIns="13716" bIns="13716" anchor="ctr">
            <a:spAutoFit/>
          </a:bodyPr>
          <a:lstStyle/>
          <a:p>
            <a:pPr algn="l">
              <a:spcAft>
                <a:spcPts val="200"/>
              </a:spcAft>
              <a:defRPr sz="800" b="0">
                <a:solidFill>
                  <a:srgbClr val="ADBFC9"/>
                </a:solidFill>
                <a:latin typeface="Noto Sans CJK SC"/>
              </a:defRPr>
            </a:pPr>
            <a:r>
              <a:t>依据：docs/PROJECT_STATUS.md（2026-09-12）；docs/VALIDATION.md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01400" y="6464808"/>
            <a:ext cx="457200" cy="256032"/>
          </a:xfrm>
          <a:prstGeom prst="rect">
            <a:avLst/>
          </a:prstGeom>
          <a:noFill/>
        </p:spPr>
        <p:txBody>
          <a:bodyPr wrap="square" lIns="18288" rIns="18288" tIns="13716" bIns="13716" anchor="ctr">
            <a:spAutoFit/>
          </a:bodyPr>
          <a:lstStyle/>
          <a:p>
            <a:pPr algn="r">
              <a:spcAft>
                <a:spcPts val="200"/>
              </a:spcAft>
              <a:defRPr sz="1000" b="1">
                <a:solidFill>
                  <a:srgbClr val="3FD7C0"/>
                </a:solidFill>
                <a:latin typeface="Noto Sans CJK SC"/>
              </a:defRPr>
            </a:pPr>
            <a:r>
              <a:t>04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30352" y="1527048"/>
            <a:ext cx="5376672" cy="4334256"/>
          </a:xfrm>
          <a:prstGeom prst="roundRect">
            <a:avLst>
              <a:gd name="adj" fmla="val 8000"/>
            </a:avLst>
          </a:prstGeom>
          <a:solidFill>
            <a:srgbClr val="1C32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67512" y="1691639"/>
            <a:ext cx="54864" cy="347472"/>
          </a:xfrm>
          <a:prstGeom prst="rect">
            <a:avLst/>
          </a:prstGeom>
          <a:solidFill>
            <a:srgbClr val="3FD7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13815" y="1664207"/>
            <a:ext cx="4937760" cy="420624"/>
          </a:xfrm>
          <a:prstGeom prst="rect">
            <a:avLst/>
          </a:prstGeom>
          <a:noFill/>
        </p:spPr>
        <p:txBody>
          <a:bodyPr wrap="square" lIns="18288" rIns="18288" tIns="13716" bIns="13716" anchor="ctr">
            <a:spAutoFit/>
          </a:bodyPr>
          <a:lstStyle/>
          <a:p>
            <a:pPr algn="l">
              <a:spcAft>
                <a:spcPts val="200"/>
              </a:spcAft>
              <a:defRPr sz="1800" b="1">
                <a:solidFill>
                  <a:srgbClr val="F8FAFA"/>
                </a:solidFill>
                <a:latin typeface="Noto Sans CJK SC"/>
              </a:defRPr>
            </a:pPr>
            <a:r>
              <a:t>已有实现与证据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19" y="2194560"/>
            <a:ext cx="4974336" cy="3520440"/>
          </a:xfrm>
          <a:prstGeom prst="rect">
            <a:avLst/>
          </a:prstGeom>
          <a:noFill/>
        </p:spPr>
        <p:txBody>
          <a:bodyPr wrap="square" lIns="18288" rIns="18288" tIns="13716" bIns="13716" anchor="t">
            <a:spAutoFit/>
          </a:bodyPr>
          <a:lstStyle/>
          <a:p>
            <a:pPr algn="l">
              <a:spcAft>
                <a:spcPts val="200"/>
              </a:spcAft>
              <a:defRPr sz="1800" b="0">
                <a:solidFill>
                  <a:srgbClr val="ADBFC9"/>
                </a:solidFill>
                <a:latin typeface="Noto Sans CJK SC"/>
              </a:defRPr>
            </a:pPr>
            <a:r>
              <a:t>• DAG 契约、计划历史与有界重规划</a:t>
            </a:r>
          </a:p>
          <a:p>
            <a:pPr algn="l">
              <a:spcAft>
                <a:spcPts val="200"/>
              </a:spcAft>
              <a:defRPr sz="1800" b="0">
                <a:solidFill>
                  <a:srgbClr val="ADBFC9"/>
                </a:solidFill>
                <a:latin typeface="Noto Sans CJK SC"/>
              </a:defRPr>
            </a:pPr>
            <a:r>
              <a:t>• 单机多任务、多资源原子分配</a:t>
            </a:r>
          </a:p>
          <a:p>
            <a:pPr algn="l">
              <a:spcAft>
                <a:spcPts val="200"/>
              </a:spcAft>
              <a:defRPr sz="1800" b="0">
                <a:solidFill>
                  <a:srgbClr val="ADBFC9"/>
                </a:solidFill>
                <a:latin typeface="Noto Sans CJK SC"/>
              </a:defRPr>
            </a:pPr>
            <a:r>
              <a:t>• DBOS 恢复 + 固定 execution ID</a:t>
            </a:r>
          </a:p>
          <a:p>
            <a:pPr algn="l">
              <a:spcAft>
                <a:spcPts val="200"/>
              </a:spcAft>
              <a:defRPr sz="1800" b="0">
                <a:solidFill>
                  <a:srgbClr val="ADBFC9"/>
                </a:solidFill>
                <a:latin typeface="Noto Sans CJK SC"/>
              </a:defRPr>
            </a:pPr>
            <a:r>
              <a:t>• 本地文件与 HTTP 技能协议</a:t>
            </a:r>
          </a:p>
          <a:p>
            <a:pPr algn="l">
              <a:spcAft>
                <a:spcPts val="200"/>
              </a:spcAft>
              <a:defRPr sz="1800" b="0">
                <a:solidFill>
                  <a:srgbClr val="ADBFC9"/>
                </a:solidFill>
                <a:latin typeface="Noto Sans CJK SC"/>
              </a:defRPr>
            </a:pPr>
            <a:r>
              <a:t>• 模型响应、资产、事件和只读 UI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1527048"/>
            <a:ext cx="5376672" cy="4334256"/>
          </a:xfrm>
          <a:prstGeom prst="roundRect">
            <a:avLst>
              <a:gd name="adj" fmla="val 8000"/>
            </a:avLst>
          </a:prstGeom>
          <a:solidFill>
            <a:srgbClr val="1C32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309360" y="1691639"/>
            <a:ext cx="54864" cy="347472"/>
          </a:xfrm>
          <a:prstGeom prst="rect">
            <a:avLst/>
          </a:prstGeom>
          <a:solidFill>
            <a:srgbClr val="F6C2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55664" y="1664207"/>
            <a:ext cx="4937760" cy="420624"/>
          </a:xfrm>
          <a:prstGeom prst="rect">
            <a:avLst/>
          </a:prstGeom>
          <a:noFill/>
        </p:spPr>
        <p:txBody>
          <a:bodyPr wrap="square" lIns="18288" rIns="18288" tIns="13716" bIns="13716" anchor="ctr">
            <a:spAutoFit/>
          </a:bodyPr>
          <a:lstStyle/>
          <a:p>
            <a:pPr algn="l">
              <a:spcAft>
                <a:spcPts val="200"/>
              </a:spcAft>
              <a:defRPr sz="1800" b="1">
                <a:solidFill>
                  <a:srgbClr val="F8FAFA"/>
                </a:solidFill>
                <a:latin typeface="Noto Sans CJK SC"/>
              </a:defRPr>
            </a:pPr>
            <a:r>
              <a:t>关键缺口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73368" y="2194560"/>
            <a:ext cx="4974336" cy="3520440"/>
          </a:xfrm>
          <a:prstGeom prst="rect">
            <a:avLst/>
          </a:prstGeom>
          <a:noFill/>
        </p:spPr>
        <p:txBody>
          <a:bodyPr wrap="square" lIns="18288" rIns="18288" tIns="13716" bIns="13716" anchor="t">
            <a:spAutoFit/>
          </a:bodyPr>
          <a:lstStyle/>
          <a:p>
            <a:pPr algn="l">
              <a:spcAft>
                <a:spcPts val="200"/>
              </a:spcAft>
              <a:defRPr sz="1800" b="0">
                <a:solidFill>
                  <a:srgbClr val="ADBFC9"/>
                </a:solidFill>
                <a:latin typeface="Noto Sans CJK SC"/>
              </a:defRPr>
            </a:pPr>
            <a:r>
              <a:t>• 控制端 fencing、补偿和人工接管</a:t>
            </a:r>
          </a:p>
          <a:p>
            <a:pPr algn="l">
              <a:spcAft>
                <a:spcPts val="200"/>
              </a:spcAft>
              <a:defRPr sz="1800" b="0">
                <a:solidFill>
                  <a:srgbClr val="ADBFC9"/>
                </a:solidFill>
                <a:latin typeface="Noto Sans CJK SC"/>
              </a:defRPr>
            </a:pPr>
            <a:r>
              <a:t>• 真实 ROS2 / Unitree 技能及停止回执</a:t>
            </a:r>
          </a:p>
          <a:p>
            <a:pPr algn="l">
              <a:spcAft>
                <a:spcPts val="200"/>
              </a:spcAft>
              <a:defRPr sz="1800" b="0">
                <a:solidFill>
                  <a:srgbClr val="ADBFC9"/>
                </a:solidFill>
                <a:latin typeface="Noto Sans CJK SC"/>
              </a:defRPr>
            </a:pPr>
            <a:r>
              <a:t>• 独立目标 verifier 的真机证据</a:t>
            </a:r>
          </a:p>
          <a:p>
            <a:pPr algn="l">
              <a:spcAft>
                <a:spcPts val="200"/>
              </a:spcAft>
              <a:defRPr sz="1800" b="0">
                <a:solidFill>
                  <a:srgbClr val="ADBFC9"/>
                </a:solidFill>
                <a:latin typeface="Noto Sans CJK SC"/>
              </a:defRPr>
            </a:pPr>
            <a:r>
              <a:t>• 真实传感器与地图失效链路</a:t>
            </a:r>
          </a:p>
          <a:p>
            <a:pPr algn="l">
              <a:spcAft>
                <a:spcPts val="200"/>
              </a:spcAft>
              <a:defRPr sz="1800" b="0">
                <a:solidFill>
                  <a:srgbClr val="ADBFC9"/>
                </a:solidFill>
                <a:latin typeface="Noto Sans CJK SC"/>
              </a:defRPr>
            </a:pPr>
            <a:r>
              <a:t>• 长程规划质量、多机器人/生产 HA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E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3FD7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19456"/>
            <a:ext cx="9601200" cy="237744"/>
          </a:xfrm>
          <a:prstGeom prst="rect">
            <a:avLst/>
          </a:prstGeom>
          <a:noFill/>
        </p:spPr>
        <p:txBody>
          <a:bodyPr wrap="square" lIns="18288" rIns="18288" tIns="13716" bIns="13716" anchor="ctr">
            <a:spAutoFit/>
          </a:bodyPr>
          <a:lstStyle/>
          <a:p>
            <a:pPr algn="l">
              <a:spcAft>
                <a:spcPts val="200"/>
              </a:spcAft>
              <a:defRPr sz="1000" b="1">
                <a:solidFill>
                  <a:srgbClr val="3FD7C0"/>
                </a:solidFill>
                <a:latin typeface="Noto Sans CJK SC"/>
              </a:defRPr>
            </a:pPr>
            <a:r>
              <a:t>04 / 核心机制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76072"/>
            <a:ext cx="11109960" cy="530352"/>
          </a:xfrm>
          <a:prstGeom prst="rect">
            <a:avLst/>
          </a:prstGeom>
          <a:noFill/>
        </p:spPr>
        <p:txBody>
          <a:bodyPr wrap="square" lIns="18288" rIns="18288" tIns="13716" bIns="13716" anchor="ctr">
            <a:spAutoFit/>
          </a:bodyPr>
          <a:lstStyle/>
          <a:p>
            <a:pPr algn="l">
              <a:spcAft>
                <a:spcPts val="200"/>
              </a:spcAft>
              <a:defRPr sz="2600" b="1">
                <a:solidFill>
                  <a:srgbClr val="F8FAFA"/>
                </a:solidFill>
                <a:latin typeface="Noto Sans CJK SC"/>
              </a:defRPr>
            </a:pPr>
            <a:r>
              <a:t>首版任务拆分：受约束的 DAG 生成 + 双层校验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457200" y="1216152"/>
            <a:ext cx="11274552" cy="0"/>
          </a:xfrm>
          <a:prstGeom prst="line">
            <a:avLst/>
          </a:prstGeom>
          <a:ln w="12700">
            <a:solidFill>
              <a:srgbClr val="3A4F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457200" y="6510528"/>
            <a:ext cx="10789920" cy="192024"/>
          </a:xfrm>
          <a:prstGeom prst="rect">
            <a:avLst/>
          </a:prstGeom>
          <a:noFill/>
        </p:spPr>
        <p:txBody>
          <a:bodyPr wrap="square" lIns="18288" rIns="18288" tIns="13716" bIns="13716" anchor="ctr">
            <a:spAutoFit/>
          </a:bodyPr>
          <a:lstStyle/>
          <a:p>
            <a:pPr algn="l">
              <a:spcAft>
                <a:spcPts val="200"/>
              </a:spcAft>
              <a:defRPr sz="800" b="0">
                <a:solidFill>
                  <a:srgbClr val="ADBFC9"/>
                </a:solidFill>
                <a:latin typeface="Noto Sans CJK SC"/>
              </a:defRPr>
            </a:pPr>
            <a:r>
              <a:t>依据：robot_agent/runtime.py、planner.py、model_methods.py、contracts.py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01400" y="6464808"/>
            <a:ext cx="457200" cy="256032"/>
          </a:xfrm>
          <a:prstGeom prst="rect">
            <a:avLst/>
          </a:prstGeom>
          <a:noFill/>
        </p:spPr>
        <p:txBody>
          <a:bodyPr wrap="square" lIns="18288" rIns="18288" tIns="13716" bIns="13716" anchor="ctr">
            <a:spAutoFit/>
          </a:bodyPr>
          <a:lstStyle/>
          <a:p>
            <a:pPr algn="r">
              <a:spcAft>
                <a:spcPts val="200"/>
              </a:spcAft>
              <a:defRPr sz="1000" b="1">
                <a:solidFill>
                  <a:srgbClr val="3FD7C0"/>
                </a:solidFill>
                <a:latin typeface="Noto Sans CJK SC"/>
              </a:defRPr>
            </a:pPr>
            <a:r>
              <a:t>05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30352" y="1892807"/>
            <a:ext cx="2048256" cy="2606040"/>
          </a:xfrm>
          <a:prstGeom prst="roundRect">
            <a:avLst>
              <a:gd name="adj" fmla="val 8000"/>
            </a:avLst>
          </a:prstGeom>
          <a:solidFill>
            <a:srgbClr val="1C32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76656" y="2066543"/>
            <a:ext cx="502920" cy="384048"/>
          </a:xfrm>
          <a:prstGeom prst="roundRect">
            <a:avLst>
              <a:gd name="adj" fmla="val 8000"/>
            </a:avLst>
          </a:prstGeom>
          <a:solidFill>
            <a:srgbClr val="3FD7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22376" y="2084831"/>
            <a:ext cx="411480" cy="329184"/>
          </a:xfrm>
          <a:prstGeom prst="rect">
            <a:avLst/>
          </a:prstGeom>
          <a:noFill/>
        </p:spPr>
        <p:txBody>
          <a:bodyPr wrap="square" lIns="18288" rIns="18288" tIns="13716" bIns="13716" anchor="ctr">
            <a:spAutoFit/>
          </a:bodyPr>
          <a:lstStyle/>
          <a:p>
            <a:pPr algn="ctr">
              <a:spcAft>
                <a:spcPts val="200"/>
              </a:spcAft>
              <a:defRPr sz="1100" b="1">
                <a:solidFill>
                  <a:srgbClr val="0F1E30"/>
                </a:solidFill>
                <a:latin typeface="Noto Sans CJK SC"/>
              </a:defRPr>
            </a:pPr>
            <a: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76656" y="2596896"/>
            <a:ext cx="1719072" cy="457200"/>
          </a:xfrm>
          <a:prstGeom prst="rect">
            <a:avLst/>
          </a:prstGeom>
          <a:noFill/>
        </p:spPr>
        <p:txBody>
          <a:bodyPr wrap="square" lIns="18288" rIns="18288" tIns="13716" bIns="13716" anchor="ctr">
            <a:spAutoFit/>
          </a:bodyPr>
          <a:lstStyle/>
          <a:p>
            <a:pPr algn="l">
              <a:spcAft>
                <a:spcPts val="200"/>
              </a:spcAft>
              <a:defRPr sz="1900" b="1">
                <a:solidFill>
                  <a:srgbClr val="F8FAFA"/>
                </a:solidFill>
                <a:latin typeface="Noto Sans CJK SC"/>
              </a:defRPr>
            </a:pPr>
            <a:r>
              <a:t>输入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76656" y="3236976"/>
            <a:ext cx="1746504" cy="950976"/>
          </a:xfrm>
          <a:prstGeom prst="rect">
            <a:avLst/>
          </a:prstGeom>
          <a:noFill/>
        </p:spPr>
        <p:txBody>
          <a:bodyPr wrap="square" lIns="18288" rIns="18288" tIns="13716" bIns="13716" anchor="ctr">
            <a:spAutoFit/>
          </a:bodyPr>
          <a:lstStyle/>
          <a:p>
            <a:pPr algn="l">
              <a:spcAft>
                <a:spcPts val="200"/>
              </a:spcAft>
              <a:defRPr sz="1500" b="0">
                <a:solidFill>
                  <a:srgbClr val="ADBFC9"/>
                </a:solidFill>
                <a:latin typeface="Noto Sans CJK SC"/>
              </a:defRPr>
            </a:pPr>
            <a:r>
              <a:t>原始 goal</a:t>
            </a:r>
          </a:p>
          <a:p>
            <a:pPr algn="l">
              <a:spcAft>
                <a:spcPts val="200"/>
              </a:spcAft>
              <a:defRPr sz="1500" b="0">
                <a:solidFill>
                  <a:srgbClr val="ADBFC9"/>
                </a:solidFill>
                <a:latin typeface="Noto Sans CJK SC"/>
              </a:defRPr>
            </a:pPr>
            <a:r>
              <a:t>注册技能目录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587752" y="2889504"/>
            <a:ext cx="237744" cy="365760"/>
          </a:xfrm>
          <a:prstGeom prst="rect">
            <a:avLst/>
          </a:prstGeom>
          <a:noFill/>
        </p:spPr>
        <p:txBody>
          <a:bodyPr wrap="square" lIns="18288" rIns="18288" tIns="13716" bIns="13716" anchor="ctr">
            <a:spAutoFit/>
          </a:bodyPr>
          <a:lstStyle/>
          <a:p>
            <a:pPr algn="ctr">
              <a:spcAft>
                <a:spcPts val="200"/>
              </a:spcAft>
              <a:defRPr sz="2200" b="1">
                <a:solidFill>
                  <a:srgbClr val="3FD7C0"/>
                </a:solidFill>
                <a:latin typeface="Noto Sans CJK SC"/>
              </a:defRPr>
            </a:pPr>
            <a:r>
              <a:t>→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825496" y="1892807"/>
            <a:ext cx="2048256" cy="2606040"/>
          </a:xfrm>
          <a:prstGeom prst="roundRect">
            <a:avLst>
              <a:gd name="adj" fmla="val 8000"/>
            </a:avLst>
          </a:prstGeom>
          <a:solidFill>
            <a:srgbClr val="1C32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2971800" y="2066543"/>
            <a:ext cx="502920" cy="384048"/>
          </a:xfrm>
          <a:prstGeom prst="roundRect">
            <a:avLst>
              <a:gd name="adj" fmla="val 8000"/>
            </a:avLst>
          </a:prstGeom>
          <a:solidFill>
            <a:srgbClr val="3FD7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017520" y="2084831"/>
            <a:ext cx="411480" cy="329184"/>
          </a:xfrm>
          <a:prstGeom prst="rect">
            <a:avLst/>
          </a:prstGeom>
          <a:noFill/>
        </p:spPr>
        <p:txBody>
          <a:bodyPr wrap="square" lIns="18288" rIns="18288" tIns="13716" bIns="13716" anchor="ctr">
            <a:spAutoFit/>
          </a:bodyPr>
          <a:lstStyle/>
          <a:p>
            <a:pPr algn="ctr">
              <a:spcAft>
                <a:spcPts val="200"/>
              </a:spcAft>
              <a:defRPr sz="1100" b="1">
                <a:solidFill>
                  <a:srgbClr val="0F1E30"/>
                </a:solidFill>
                <a:latin typeface="Noto Sans CJK SC"/>
              </a:defRPr>
            </a:pPr>
            <a:r>
              <a:t>02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971800" y="2596896"/>
            <a:ext cx="1719072" cy="457200"/>
          </a:xfrm>
          <a:prstGeom prst="rect">
            <a:avLst/>
          </a:prstGeom>
          <a:noFill/>
        </p:spPr>
        <p:txBody>
          <a:bodyPr wrap="square" lIns="18288" rIns="18288" tIns="13716" bIns="13716" anchor="ctr">
            <a:spAutoFit/>
          </a:bodyPr>
          <a:lstStyle/>
          <a:p>
            <a:pPr algn="l">
              <a:spcAft>
                <a:spcPts val="200"/>
              </a:spcAft>
              <a:defRPr sz="1900" b="1">
                <a:solidFill>
                  <a:srgbClr val="F8FAFA"/>
                </a:solidFill>
                <a:latin typeface="Noto Sans CJK SC"/>
              </a:defRPr>
            </a:pPr>
            <a:r>
              <a:t>上下文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971800" y="3236976"/>
            <a:ext cx="1746504" cy="950976"/>
          </a:xfrm>
          <a:prstGeom prst="rect">
            <a:avLst/>
          </a:prstGeom>
          <a:noFill/>
        </p:spPr>
        <p:txBody>
          <a:bodyPr wrap="square" lIns="18288" rIns="18288" tIns="13716" bIns="13716" anchor="ctr">
            <a:spAutoFit/>
          </a:bodyPr>
          <a:lstStyle/>
          <a:p>
            <a:pPr algn="l">
              <a:spcAft>
                <a:spcPts val="200"/>
              </a:spcAft>
              <a:defRPr sz="1500" b="0">
                <a:solidFill>
                  <a:srgbClr val="ADBFC9"/>
                </a:solidFill>
                <a:latin typeface="Noto Sans CJK SC"/>
              </a:defRPr>
            </a:pPr>
            <a:r>
              <a:t>GoalContext</a:t>
            </a:r>
          </a:p>
          <a:p>
            <a:pPr algn="l">
              <a:spcAft>
                <a:spcPts val="200"/>
              </a:spcAft>
              <a:defRPr sz="1500" b="0">
                <a:solidFill>
                  <a:srgbClr val="ADBFC9"/>
                </a:solidFill>
                <a:latin typeface="Noto Sans CJK SC"/>
              </a:defRPr>
            </a:pPr>
            <a:r>
              <a:t>能力 / 任务状态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882896" y="2889504"/>
            <a:ext cx="237744" cy="365760"/>
          </a:xfrm>
          <a:prstGeom prst="rect">
            <a:avLst/>
          </a:prstGeom>
          <a:noFill/>
        </p:spPr>
        <p:txBody>
          <a:bodyPr wrap="square" lIns="18288" rIns="18288" tIns="13716" bIns="13716" anchor="ctr">
            <a:spAutoFit/>
          </a:bodyPr>
          <a:lstStyle/>
          <a:p>
            <a:pPr algn="ctr">
              <a:spcAft>
                <a:spcPts val="200"/>
              </a:spcAft>
              <a:defRPr sz="2200" b="1">
                <a:solidFill>
                  <a:srgbClr val="3FD7C0"/>
                </a:solidFill>
                <a:latin typeface="Noto Sans CJK SC"/>
              </a:defRPr>
            </a:pPr>
            <a:r>
              <a:t>→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120640" y="1892807"/>
            <a:ext cx="2048256" cy="2606040"/>
          </a:xfrm>
          <a:prstGeom prst="roundRect">
            <a:avLst>
              <a:gd name="adj" fmla="val 8000"/>
            </a:avLst>
          </a:prstGeom>
          <a:solidFill>
            <a:srgbClr val="1C32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5266944" y="2066543"/>
            <a:ext cx="502920" cy="384048"/>
          </a:xfrm>
          <a:prstGeom prst="roundRect">
            <a:avLst>
              <a:gd name="adj" fmla="val 8000"/>
            </a:avLst>
          </a:prstGeom>
          <a:solidFill>
            <a:srgbClr val="3FD7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312664" y="2084831"/>
            <a:ext cx="411480" cy="329184"/>
          </a:xfrm>
          <a:prstGeom prst="rect">
            <a:avLst/>
          </a:prstGeom>
          <a:noFill/>
        </p:spPr>
        <p:txBody>
          <a:bodyPr wrap="square" lIns="18288" rIns="18288" tIns="13716" bIns="13716" anchor="ctr">
            <a:spAutoFit/>
          </a:bodyPr>
          <a:lstStyle/>
          <a:p>
            <a:pPr algn="ctr">
              <a:spcAft>
                <a:spcPts val="200"/>
              </a:spcAft>
              <a:defRPr sz="1100" b="1">
                <a:solidFill>
                  <a:srgbClr val="0F1E30"/>
                </a:solidFill>
                <a:latin typeface="Noto Sans CJK SC"/>
              </a:defRPr>
            </a:pPr>
            <a:r>
              <a:t>03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266944" y="2596896"/>
            <a:ext cx="1719072" cy="457200"/>
          </a:xfrm>
          <a:prstGeom prst="rect">
            <a:avLst/>
          </a:prstGeom>
          <a:noFill/>
        </p:spPr>
        <p:txBody>
          <a:bodyPr wrap="square" lIns="18288" rIns="18288" tIns="13716" bIns="13716" anchor="ctr">
            <a:spAutoFit/>
          </a:bodyPr>
          <a:lstStyle/>
          <a:p>
            <a:pPr algn="l">
              <a:spcAft>
                <a:spcPts val="200"/>
              </a:spcAft>
              <a:defRPr sz="1900" b="1">
                <a:solidFill>
                  <a:srgbClr val="F8FAFA"/>
                </a:solidFill>
                <a:latin typeface="Noto Sans CJK SC"/>
              </a:defRPr>
            </a:pPr>
            <a:r>
              <a:t>模型候选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266944" y="3236976"/>
            <a:ext cx="1746504" cy="950976"/>
          </a:xfrm>
          <a:prstGeom prst="rect">
            <a:avLst/>
          </a:prstGeom>
          <a:noFill/>
        </p:spPr>
        <p:txBody>
          <a:bodyPr wrap="square" lIns="18288" rIns="18288" tIns="13716" bIns="13716" anchor="ctr">
            <a:spAutoFit/>
          </a:bodyPr>
          <a:lstStyle/>
          <a:p>
            <a:pPr algn="l">
              <a:spcAft>
                <a:spcPts val="200"/>
              </a:spcAft>
              <a:defRPr sz="1500" b="0">
                <a:solidFill>
                  <a:srgbClr val="ADBFC9"/>
                </a:solidFill>
                <a:latin typeface="Noto Sans CJK SC"/>
              </a:defRPr>
            </a:pPr>
            <a:r>
              <a:t>JSON steps</a:t>
            </a:r>
          </a:p>
          <a:p>
            <a:pPr algn="l">
              <a:spcAft>
                <a:spcPts val="200"/>
              </a:spcAft>
              <a:defRPr sz="1500" b="0">
                <a:solidFill>
                  <a:srgbClr val="ADBFC9"/>
                </a:solidFill>
                <a:latin typeface="Noto Sans CJK SC"/>
              </a:defRPr>
            </a:pPr>
            <a:r>
              <a:t>deps + verification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178040" y="2889504"/>
            <a:ext cx="237744" cy="365760"/>
          </a:xfrm>
          <a:prstGeom prst="rect">
            <a:avLst/>
          </a:prstGeom>
          <a:noFill/>
        </p:spPr>
        <p:txBody>
          <a:bodyPr wrap="square" lIns="18288" rIns="18288" tIns="13716" bIns="13716" anchor="ctr">
            <a:spAutoFit/>
          </a:bodyPr>
          <a:lstStyle/>
          <a:p>
            <a:pPr algn="ctr">
              <a:spcAft>
                <a:spcPts val="200"/>
              </a:spcAft>
              <a:defRPr sz="2200" b="1">
                <a:solidFill>
                  <a:srgbClr val="3FD7C0"/>
                </a:solidFill>
                <a:latin typeface="Noto Sans CJK SC"/>
              </a:defRPr>
            </a:pPr>
            <a:r>
              <a:t>→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415783" y="1892807"/>
            <a:ext cx="2048256" cy="2606040"/>
          </a:xfrm>
          <a:prstGeom prst="roundRect">
            <a:avLst>
              <a:gd name="adj" fmla="val 8000"/>
            </a:avLst>
          </a:prstGeom>
          <a:solidFill>
            <a:srgbClr val="1C32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7562088" y="2066543"/>
            <a:ext cx="502920" cy="384048"/>
          </a:xfrm>
          <a:prstGeom prst="roundRect">
            <a:avLst>
              <a:gd name="adj" fmla="val 8000"/>
            </a:avLst>
          </a:prstGeom>
          <a:solidFill>
            <a:srgbClr val="3FD7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607808" y="2084831"/>
            <a:ext cx="411480" cy="329184"/>
          </a:xfrm>
          <a:prstGeom prst="rect">
            <a:avLst/>
          </a:prstGeom>
          <a:noFill/>
        </p:spPr>
        <p:txBody>
          <a:bodyPr wrap="square" lIns="18288" rIns="18288" tIns="13716" bIns="13716" anchor="ctr">
            <a:spAutoFit/>
          </a:bodyPr>
          <a:lstStyle/>
          <a:p>
            <a:pPr algn="ctr">
              <a:spcAft>
                <a:spcPts val="200"/>
              </a:spcAft>
              <a:defRPr sz="1100" b="1">
                <a:solidFill>
                  <a:srgbClr val="0F1E30"/>
                </a:solidFill>
                <a:latin typeface="Noto Sans CJK SC"/>
              </a:defRPr>
            </a:pPr>
            <a:r>
              <a:t>04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562088" y="2596896"/>
            <a:ext cx="1719072" cy="457200"/>
          </a:xfrm>
          <a:prstGeom prst="rect">
            <a:avLst/>
          </a:prstGeom>
          <a:noFill/>
        </p:spPr>
        <p:txBody>
          <a:bodyPr wrap="square" lIns="18288" rIns="18288" tIns="13716" bIns="13716" anchor="ctr">
            <a:spAutoFit/>
          </a:bodyPr>
          <a:lstStyle/>
          <a:p>
            <a:pPr algn="l">
              <a:spcAft>
                <a:spcPts val="200"/>
              </a:spcAft>
              <a:defRPr sz="1900" b="1">
                <a:solidFill>
                  <a:srgbClr val="F8FAFA"/>
                </a:solidFill>
                <a:latin typeface="Noto Sans CJK SC"/>
              </a:defRPr>
            </a:pPr>
            <a:r>
              <a:t>计划门禁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562088" y="3236976"/>
            <a:ext cx="1746504" cy="950976"/>
          </a:xfrm>
          <a:prstGeom prst="rect">
            <a:avLst/>
          </a:prstGeom>
          <a:noFill/>
        </p:spPr>
        <p:txBody>
          <a:bodyPr wrap="square" lIns="18288" rIns="18288" tIns="13716" bIns="13716" anchor="ctr">
            <a:spAutoFit/>
          </a:bodyPr>
          <a:lstStyle/>
          <a:p>
            <a:pPr algn="l">
              <a:spcAft>
                <a:spcPts val="200"/>
              </a:spcAft>
              <a:defRPr sz="1500" b="0">
                <a:solidFill>
                  <a:srgbClr val="ADBFC9"/>
                </a:solidFill>
                <a:latin typeface="Noto Sans CJK SC"/>
              </a:defRPr>
            </a:pPr>
            <a:r>
              <a:t>DAG / 引用</a:t>
            </a:r>
          </a:p>
          <a:p>
            <a:pPr algn="l">
              <a:spcAft>
                <a:spcPts val="200"/>
              </a:spcAft>
              <a:defRPr sz="1500" b="0">
                <a:solidFill>
                  <a:srgbClr val="ADBFC9"/>
                </a:solidFill>
                <a:latin typeface="Noto Sans CJK SC"/>
              </a:defRPr>
            </a:pPr>
            <a:r>
              <a:t>最终 verifier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473184" y="2889504"/>
            <a:ext cx="237744" cy="365760"/>
          </a:xfrm>
          <a:prstGeom prst="rect">
            <a:avLst/>
          </a:prstGeom>
          <a:noFill/>
        </p:spPr>
        <p:txBody>
          <a:bodyPr wrap="square" lIns="18288" rIns="18288" tIns="13716" bIns="13716" anchor="ctr">
            <a:spAutoFit/>
          </a:bodyPr>
          <a:lstStyle/>
          <a:p>
            <a:pPr algn="ctr">
              <a:spcAft>
                <a:spcPts val="200"/>
              </a:spcAft>
              <a:defRPr sz="2200" b="1">
                <a:solidFill>
                  <a:srgbClr val="3FD7C0"/>
                </a:solidFill>
                <a:latin typeface="Noto Sans CJK SC"/>
              </a:defRPr>
            </a:pPr>
            <a:r>
              <a:t>→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9710928" y="1892807"/>
            <a:ext cx="2048256" cy="2606040"/>
          </a:xfrm>
          <a:prstGeom prst="roundRect">
            <a:avLst>
              <a:gd name="adj" fmla="val 8000"/>
            </a:avLst>
          </a:prstGeom>
          <a:solidFill>
            <a:srgbClr val="1C32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9857232" y="2066543"/>
            <a:ext cx="502920" cy="384048"/>
          </a:xfrm>
          <a:prstGeom prst="roundRect">
            <a:avLst>
              <a:gd name="adj" fmla="val 8000"/>
            </a:avLst>
          </a:prstGeom>
          <a:solidFill>
            <a:srgbClr val="3FD7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902952" y="2084831"/>
            <a:ext cx="411480" cy="329184"/>
          </a:xfrm>
          <a:prstGeom prst="rect">
            <a:avLst/>
          </a:prstGeom>
          <a:noFill/>
        </p:spPr>
        <p:txBody>
          <a:bodyPr wrap="square" lIns="18288" rIns="18288" tIns="13716" bIns="13716" anchor="ctr">
            <a:spAutoFit/>
          </a:bodyPr>
          <a:lstStyle/>
          <a:p>
            <a:pPr algn="ctr">
              <a:spcAft>
                <a:spcPts val="200"/>
              </a:spcAft>
              <a:defRPr sz="1100" b="1">
                <a:solidFill>
                  <a:srgbClr val="0F1E30"/>
                </a:solidFill>
                <a:latin typeface="Noto Sans CJK SC"/>
              </a:defRPr>
            </a:pPr>
            <a:r>
              <a:t>05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857232" y="2596896"/>
            <a:ext cx="1719072" cy="457200"/>
          </a:xfrm>
          <a:prstGeom prst="rect">
            <a:avLst/>
          </a:prstGeom>
          <a:noFill/>
        </p:spPr>
        <p:txBody>
          <a:bodyPr wrap="square" lIns="18288" rIns="18288" tIns="13716" bIns="13716" anchor="ctr">
            <a:spAutoFit/>
          </a:bodyPr>
          <a:lstStyle/>
          <a:p>
            <a:pPr algn="l">
              <a:spcAft>
                <a:spcPts val="200"/>
              </a:spcAft>
              <a:defRPr sz="1900" b="1">
                <a:solidFill>
                  <a:srgbClr val="F8FAFA"/>
                </a:solidFill>
                <a:latin typeface="Noto Sans CJK SC"/>
              </a:defRPr>
            </a:pPr>
            <a:r>
              <a:t>执行门禁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857232" y="3236976"/>
            <a:ext cx="1746504" cy="950976"/>
          </a:xfrm>
          <a:prstGeom prst="rect">
            <a:avLst/>
          </a:prstGeom>
          <a:noFill/>
        </p:spPr>
        <p:txBody>
          <a:bodyPr wrap="square" lIns="18288" rIns="18288" tIns="13716" bIns="13716" anchor="ctr">
            <a:spAutoFit/>
          </a:bodyPr>
          <a:lstStyle/>
          <a:p>
            <a:pPr algn="l">
              <a:spcAft>
                <a:spcPts val="200"/>
              </a:spcAft>
              <a:defRPr sz="1500" b="0">
                <a:solidFill>
                  <a:srgbClr val="ADBFC9"/>
                </a:solidFill>
                <a:latin typeface="Noto Sans CJK SC"/>
              </a:defRPr>
            </a:pPr>
            <a:r>
              <a:t>资源 / 重入</a:t>
            </a:r>
          </a:p>
          <a:p>
            <a:pPr algn="l">
              <a:spcAft>
                <a:spcPts val="200"/>
              </a:spcAft>
              <a:defRPr sz="1500" b="0">
                <a:solidFill>
                  <a:srgbClr val="ADBFC9"/>
                </a:solidFill>
                <a:latin typeface="Noto Sans CJK SC"/>
              </a:defRPr>
            </a:pPr>
            <a:r>
              <a:t>冻结 plan + catalog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530352" y="4873752"/>
            <a:ext cx="11228832" cy="841248"/>
          </a:xfrm>
          <a:prstGeom prst="roundRect">
            <a:avLst>
              <a:gd name="adj" fmla="val 8000"/>
            </a:avLst>
          </a:prstGeom>
          <a:solidFill>
            <a:srgbClr val="192C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49808" y="5102352"/>
            <a:ext cx="10808208" cy="356616"/>
          </a:xfrm>
          <a:prstGeom prst="rect">
            <a:avLst/>
          </a:prstGeom>
          <a:noFill/>
        </p:spPr>
        <p:txBody>
          <a:bodyPr wrap="square" lIns="18288" rIns="18288" tIns="13716" bIns="13716" anchor="ctr">
            <a:spAutoFit/>
          </a:bodyPr>
          <a:lstStyle/>
          <a:p>
            <a:pPr algn="l">
              <a:spcAft>
                <a:spcPts val="200"/>
              </a:spcAft>
              <a:defRPr sz="1600" b="1">
                <a:solidFill>
                  <a:srgbClr val="F6C25D"/>
                </a:solidFill>
                <a:latin typeface="Noto Sans CJK SC"/>
              </a:defRPr>
            </a:pPr>
            <a:r>
              <a:t>当前常规 agent 路径直接用原始 goal 规划；独立语义分析入口尚未自动接入提交链。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E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3FD7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19456"/>
            <a:ext cx="9601200" cy="237744"/>
          </a:xfrm>
          <a:prstGeom prst="rect">
            <a:avLst/>
          </a:prstGeom>
          <a:noFill/>
        </p:spPr>
        <p:txBody>
          <a:bodyPr wrap="square" lIns="18288" rIns="18288" tIns="13716" bIns="13716" anchor="ctr">
            <a:spAutoFit/>
          </a:bodyPr>
          <a:lstStyle/>
          <a:p>
            <a:pPr algn="l">
              <a:spcAft>
                <a:spcPts val="200"/>
              </a:spcAft>
              <a:defRPr sz="1000" b="1">
                <a:solidFill>
                  <a:srgbClr val="3FD7C0"/>
                </a:solidFill>
                <a:latin typeface="Noto Sans CJK SC"/>
              </a:defRPr>
            </a:pPr>
            <a:r>
              <a:t>05 / 可追溯样例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76072"/>
            <a:ext cx="11109960" cy="530352"/>
          </a:xfrm>
          <a:prstGeom prst="rect">
            <a:avLst/>
          </a:prstGeom>
          <a:noFill/>
        </p:spPr>
        <p:txBody>
          <a:bodyPr wrap="square" lIns="18288" rIns="18288" tIns="13716" bIns="13716" anchor="ctr">
            <a:spAutoFit/>
          </a:bodyPr>
          <a:lstStyle/>
          <a:p>
            <a:pPr algn="l">
              <a:spcAft>
                <a:spcPts val="200"/>
              </a:spcAft>
              <a:defRPr sz="2600" b="1">
                <a:solidFill>
                  <a:srgbClr val="F8FAFA"/>
                </a:solidFill>
                <a:latin typeface="Noto Sans CJK SC"/>
              </a:defRPr>
            </a:pPr>
            <a:r>
              <a:t>一条真实模型计划：两步，但尚未执行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457200" y="1216152"/>
            <a:ext cx="11274552" cy="0"/>
          </a:xfrm>
          <a:prstGeom prst="line">
            <a:avLst/>
          </a:prstGeom>
          <a:ln w="12700">
            <a:solidFill>
              <a:srgbClr val="3A4F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457200" y="6510528"/>
            <a:ext cx="10789920" cy="192024"/>
          </a:xfrm>
          <a:prstGeom prst="rect">
            <a:avLst/>
          </a:prstGeom>
          <a:noFill/>
        </p:spPr>
        <p:txBody>
          <a:bodyPr wrap="square" lIns="18288" rIns="18288" tIns="13716" bIns="13716" anchor="ctr">
            <a:spAutoFit/>
          </a:bodyPr>
          <a:lstStyle/>
          <a:p>
            <a:pPr algn="l">
              <a:spcAft>
                <a:spcPts val="200"/>
              </a:spcAft>
              <a:defRPr sz="800" b="0">
                <a:solidFill>
                  <a:srgbClr val="ADBFC9"/>
                </a:solidFill>
                <a:latin typeface="Noto Sans CJK SC"/>
              </a:defRPr>
            </a:pPr>
            <a:r>
              <a:t>依据：docs/validation/model-planning-qwen3.8-max.json（2026-09-07）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01400" y="6464808"/>
            <a:ext cx="457200" cy="256032"/>
          </a:xfrm>
          <a:prstGeom prst="rect">
            <a:avLst/>
          </a:prstGeom>
          <a:noFill/>
        </p:spPr>
        <p:txBody>
          <a:bodyPr wrap="square" lIns="18288" rIns="18288" tIns="13716" bIns="13716" anchor="ctr">
            <a:spAutoFit/>
          </a:bodyPr>
          <a:lstStyle/>
          <a:p>
            <a:pPr algn="r">
              <a:spcAft>
                <a:spcPts val="200"/>
              </a:spcAft>
              <a:defRPr sz="1000" b="1">
                <a:solidFill>
                  <a:srgbClr val="3FD7C0"/>
                </a:solidFill>
                <a:latin typeface="Noto Sans CJK SC"/>
              </a:defRPr>
            </a:pPr>
            <a:r>
              <a:t>06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2648" y="1691640"/>
            <a:ext cx="4160520" cy="3118104"/>
          </a:xfrm>
          <a:prstGeom prst="roundRect">
            <a:avLst>
              <a:gd name="adj" fmla="val 8000"/>
            </a:avLst>
          </a:prstGeom>
          <a:solidFill>
            <a:srgbClr val="1C32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896112" y="1947672"/>
            <a:ext cx="969264" cy="384048"/>
          </a:xfrm>
          <a:prstGeom prst="roundRect">
            <a:avLst>
              <a:gd name="adj" fmla="val 8000"/>
            </a:avLst>
          </a:prstGeom>
          <a:solidFill>
            <a:srgbClr val="3FD7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41832" y="1965960"/>
            <a:ext cx="877824" cy="329184"/>
          </a:xfrm>
          <a:prstGeom prst="rect">
            <a:avLst/>
          </a:prstGeom>
          <a:noFill/>
        </p:spPr>
        <p:txBody>
          <a:bodyPr wrap="square" lIns="18288" rIns="18288" tIns="13716" bIns="13716" anchor="ctr">
            <a:spAutoFit/>
          </a:bodyPr>
          <a:lstStyle/>
          <a:p>
            <a:pPr algn="ctr">
              <a:spcAft>
                <a:spcPts val="200"/>
              </a:spcAft>
              <a:defRPr sz="1200" b="1">
                <a:solidFill>
                  <a:srgbClr val="0F1E30"/>
                </a:solidFill>
                <a:latin typeface="Noto Sans CJK SC"/>
              </a:defRPr>
            </a:pPr>
            <a:r>
              <a:t>STEP 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86968" y="2569464"/>
            <a:ext cx="3538728" cy="521207"/>
          </a:xfrm>
          <a:prstGeom prst="rect">
            <a:avLst/>
          </a:prstGeom>
          <a:noFill/>
        </p:spPr>
        <p:txBody>
          <a:bodyPr wrap="square" lIns="18288" rIns="18288" tIns="13716" bIns="13716" anchor="ctr">
            <a:spAutoFit/>
          </a:bodyPr>
          <a:lstStyle/>
          <a:p>
            <a:pPr algn="l">
              <a:spcAft>
                <a:spcPts val="200"/>
              </a:spcAft>
              <a:defRPr sz="2300" b="1">
                <a:solidFill>
                  <a:srgbClr val="F8FAFA"/>
                </a:solidFill>
                <a:latin typeface="Noto Sans CJK SC"/>
              </a:defRPr>
            </a:pPr>
            <a:r>
              <a:t>ingest_readme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86968" y="3264408"/>
            <a:ext cx="3547872" cy="1024128"/>
          </a:xfrm>
          <a:prstGeom prst="rect">
            <a:avLst/>
          </a:prstGeom>
          <a:noFill/>
        </p:spPr>
        <p:txBody>
          <a:bodyPr wrap="square" lIns="18288" rIns="18288" tIns="13716" bIns="13716" anchor="ctr">
            <a:spAutoFit/>
          </a:bodyPr>
          <a:lstStyle/>
          <a:p>
            <a:pPr algn="l">
              <a:spcAft>
                <a:spcPts val="200"/>
              </a:spcAft>
              <a:defRPr sz="1700" b="0">
                <a:solidFill>
                  <a:srgbClr val="ADBFC9"/>
                </a:solidFill>
                <a:latin typeface="Noto Sans CJK SC"/>
              </a:defRPr>
            </a:pPr>
            <a:r>
              <a:t>file.ingest</a:t>
            </a:r>
          </a:p>
          <a:p>
            <a:pPr algn="l">
              <a:spcAft>
                <a:spcPts val="200"/>
              </a:spcAft>
              <a:defRPr sz="1700" b="0">
                <a:solidFill>
                  <a:srgbClr val="ADBFC9"/>
                </a:solidFill>
                <a:latin typeface="Noto Sans CJK SC"/>
              </a:defRPr>
            </a:pPr>
            <a:r>
              <a:t>计划动作：读取 README，返回 asset_id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64608" y="2990088"/>
            <a:ext cx="2331720" cy="484632"/>
          </a:xfrm>
          <a:prstGeom prst="rect">
            <a:avLst/>
          </a:prstGeom>
          <a:noFill/>
        </p:spPr>
        <p:txBody>
          <a:bodyPr wrap="square" lIns="18288" rIns="18288" tIns="13716" bIns="13716" anchor="ctr">
            <a:spAutoFit/>
          </a:bodyPr>
          <a:lstStyle/>
          <a:p>
            <a:pPr algn="ctr">
              <a:spcAft>
                <a:spcPts val="200"/>
              </a:spcAft>
              <a:defRPr sz="2200" b="1">
                <a:solidFill>
                  <a:srgbClr val="F6C25D"/>
                </a:solidFill>
                <a:latin typeface="Noto Sans CJK SC"/>
              </a:defRPr>
            </a:pPr>
            <a:r>
              <a:t>asset_id →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406640" y="1691640"/>
            <a:ext cx="4160520" cy="3118104"/>
          </a:xfrm>
          <a:prstGeom prst="roundRect">
            <a:avLst>
              <a:gd name="adj" fmla="val 8000"/>
            </a:avLst>
          </a:prstGeom>
          <a:solidFill>
            <a:srgbClr val="1C32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7699248" y="1947672"/>
            <a:ext cx="1298448" cy="384048"/>
          </a:xfrm>
          <a:prstGeom prst="roundRect">
            <a:avLst>
              <a:gd name="adj" fmla="val 8000"/>
            </a:avLst>
          </a:prstGeom>
          <a:solidFill>
            <a:srgbClr val="F6C2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44968" y="1965960"/>
            <a:ext cx="1207007" cy="329184"/>
          </a:xfrm>
          <a:prstGeom prst="rect">
            <a:avLst/>
          </a:prstGeom>
          <a:noFill/>
        </p:spPr>
        <p:txBody>
          <a:bodyPr wrap="square" lIns="18288" rIns="18288" tIns="13716" bIns="13716" anchor="ctr">
            <a:spAutoFit/>
          </a:bodyPr>
          <a:lstStyle/>
          <a:p>
            <a:pPr algn="ctr">
              <a:spcAft>
                <a:spcPts val="200"/>
              </a:spcAft>
              <a:defRPr sz="1200" b="1">
                <a:solidFill>
                  <a:srgbClr val="0F1E30"/>
                </a:solidFill>
                <a:latin typeface="Noto Sans CJK SC"/>
              </a:defRPr>
            </a:pPr>
            <a:r>
              <a:t>VERIFIER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690104" y="2569464"/>
            <a:ext cx="3547872" cy="521207"/>
          </a:xfrm>
          <a:prstGeom prst="rect">
            <a:avLst/>
          </a:prstGeom>
          <a:noFill/>
        </p:spPr>
        <p:txBody>
          <a:bodyPr wrap="square" lIns="18288" rIns="18288" tIns="13716" bIns="13716" anchor="ctr">
            <a:spAutoFit/>
          </a:bodyPr>
          <a:lstStyle/>
          <a:p>
            <a:pPr algn="l">
              <a:spcAft>
                <a:spcPts val="200"/>
              </a:spcAft>
              <a:defRPr sz="2100" b="1">
                <a:solidFill>
                  <a:srgbClr val="F8FAFA"/>
                </a:solidFill>
                <a:latin typeface="Noto Sans CJK SC"/>
              </a:defRPr>
            </a:pPr>
            <a:r>
              <a:t>verify_readme_asset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690104" y="3264408"/>
            <a:ext cx="3557016" cy="1024128"/>
          </a:xfrm>
          <a:prstGeom prst="rect">
            <a:avLst/>
          </a:prstGeom>
          <a:noFill/>
        </p:spPr>
        <p:txBody>
          <a:bodyPr wrap="square" lIns="18288" rIns="18288" tIns="13716" bIns="13716" anchor="ctr">
            <a:spAutoFit/>
          </a:bodyPr>
          <a:lstStyle/>
          <a:p>
            <a:pPr algn="l">
              <a:spcAft>
                <a:spcPts val="200"/>
              </a:spcAft>
              <a:defRPr sz="1700" b="0">
                <a:solidFill>
                  <a:srgbClr val="ADBFC9"/>
                </a:solidFill>
                <a:latin typeface="Noto Sans CJK SC"/>
              </a:defRPr>
            </a:pPr>
            <a:r>
              <a:t>asset.verify</a:t>
            </a:r>
          </a:p>
          <a:p>
            <a:pPr algn="l">
              <a:spcAft>
                <a:spcPts val="200"/>
              </a:spcAft>
              <a:defRPr sz="1700" b="0">
                <a:solidFill>
                  <a:srgbClr val="ADBFC9"/>
                </a:solidFill>
                <a:latin typeface="Noto Sans CJK SC"/>
              </a:defRPr>
            </a:pPr>
            <a:r>
              <a:t>校验资产并作为最终验证节点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1792" y="5138928"/>
            <a:ext cx="10945368" cy="704088"/>
          </a:xfrm>
          <a:prstGeom prst="roundRect">
            <a:avLst>
              <a:gd name="adj" fmla="val 8000"/>
            </a:avLst>
          </a:prstGeom>
          <a:solidFill>
            <a:srgbClr val="192C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86968" y="5285232"/>
            <a:ext cx="10287000" cy="393192"/>
          </a:xfrm>
          <a:prstGeom prst="rect">
            <a:avLst/>
          </a:prstGeom>
          <a:noFill/>
        </p:spPr>
        <p:txBody>
          <a:bodyPr wrap="square" lIns="18288" rIns="18288" tIns="13716" bIns="13716" anchor="ctr">
            <a:spAutoFit/>
          </a:bodyPr>
          <a:lstStyle/>
          <a:p>
            <a:pPr algn="l">
              <a:spcAft>
                <a:spcPts val="200"/>
              </a:spcAft>
              <a:defRPr sz="1800" b="1">
                <a:solidFill>
                  <a:srgbClr val="F8FAFA"/>
                </a:solidFill>
                <a:latin typeface="Noto Sans CJK SC"/>
              </a:defRPr>
            </a:pPr>
            <a:r>
              <a:t>实测结论：模型返回并通过计划契约；plan_executed = false。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E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3FD7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19456"/>
            <a:ext cx="9601200" cy="237744"/>
          </a:xfrm>
          <a:prstGeom prst="rect">
            <a:avLst/>
          </a:prstGeom>
          <a:noFill/>
        </p:spPr>
        <p:txBody>
          <a:bodyPr wrap="square" lIns="18288" rIns="18288" tIns="13716" bIns="13716" anchor="ctr">
            <a:spAutoFit/>
          </a:bodyPr>
          <a:lstStyle/>
          <a:p>
            <a:pPr algn="l">
              <a:spcAft>
                <a:spcPts val="200"/>
              </a:spcAft>
              <a:defRPr sz="1000" b="1">
                <a:solidFill>
                  <a:srgbClr val="3FD7C0"/>
                </a:solidFill>
                <a:latin typeface="Noto Sans CJK SC"/>
              </a:defRPr>
            </a:pPr>
            <a:r>
              <a:t>06 / 校验规则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76072"/>
            <a:ext cx="11109960" cy="530352"/>
          </a:xfrm>
          <a:prstGeom prst="rect">
            <a:avLst/>
          </a:prstGeom>
          <a:noFill/>
        </p:spPr>
        <p:txBody>
          <a:bodyPr wrap="square" lIns="18288" rIns="18288" tIns="13716" bIns="13716" anchor="ctr">
            <a:spAutoFit/>
          </a:bodyPr>
          <a:lstStyle/>
          <a:p>
            <a:pPr algn="l">
              <a:spcAft>
                <a:spcPts val="200"/>
              </a:spcAft>
              <a:defRPr sz="2600" b="1">
                <a:solidFill>
                  <a:srgbClr val="F8FAFA"/>
                </a:solidFill>
                <a:latin typeface="Noto Sans CJK SC"/>
              </a:defRPr>
            </a:pPr>
            <a:r>
              <a:t>计划不是字符串：必须经过确定性门禁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457200" y="1216152"/>
            <a:ext cx="11274552" cy="0"/>
          </a:xfrm>
          <a:prstGeom prst="line">
            <a:avLst/>
          </a:prstGeom>
          <a:ln w="12700">
            <a:solidFill>
              <a:srgbClr val="3A4F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457200" y="6510528"/>
            <a:ext cx="10789920" cy="192024"/>
          </a:xfrm>
          <a:prstGeom prst="rect">
            <a:avLst/>
          </a:prstGeom>
          <a:noFill/>
        </p:spPr>
        <p:txBody>
          <a:bodyPr wrap="square" lIns="18288" rIns="18288" tIns="13716" bIns="13716" anchor="ctr">
            <a:spAutoFit/>
          </a:bodyPr>
          <a:lstStyle/>
          <a:p>
            <a:pPr algn="l">
              <a:spcAft>
                <a:spcPts val="200"/>
              </a:spcAft>
              <a:defRPr sz="800" b="0">
                <a:solidFill>
                  <a:srgbClr val="ADBFC9"/>
                </a:solidFill>
                <a:latin typeface="Noto Sans CJK SC"/>
              </a:defRPr>
            </a:pPr>
            <a:r>
              <a:t>依据：robot_agent/contracts.py、planner.py、runtime.py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01400" y="6464808"/>
            <a:ext cx="457200" cy="256032"/>
          </a:xfrm>
          <a:prstGeom prst="rect">
            <a:avLst/>
          </a:prstGeom>
          <a:noFill/>
        </p:spPr>
        <p:txBody>
          <a:bodyPr wrap="square" lIns="18288" rIns="18288" tIns="13716" bIns="13716" anchor="ctr">
            <a:spAutoFit/>
          </a:bodyPr>
          <a:lstStyle/>
          <a:p>
            <a:pPr algn="r">
              <a:spcAft>
                <a:spcPts val="200"/>
              </a:spcAft>
              <a:defRPr sz="1000" b="1">
                <a:solidFill>
                  <a:srgbClr val="3FD7C0"/>
                </a:solidFill>
                <a:latin typeface="Noto Sans CJK SC"/>
              </a:defRPr>
            </a:pPr>
            <a:r>
              <a:t>07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1572768"/>
            <a:ext cx="3584448" cy="4151376"/>
          </a:xfrm>
          <a:prstGeom prst="roundRect">
            <a:avLst>
              <a:gd name="adj" fmla="val 8000"/>
            </a:avLst>
          </a:prstGeom>
          <a:solidFill>
            <a:srgbClr val="1C32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04088" y="1737360"/>
            <a:ext cx="54864" cy="347472"/>
          </a:xfrm>
          <a:prstGeom prst="rect">
            <a:avLst/>
          </a:prstGeom>
          <a:solidFill>
            <a:srgbClr val="3FD7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50392" y="1709928"/>
            <a:ext cx="3145536" cy="420624"/>
          </a:xfrm>
          <a:prstGeom prst="rect">
            <a:avLst/>
          </a:prstGeom>
          <a:noFill/>
        </p:spPr>
        <p:txBody>
          <a:bodyPr wrap="square" lIns="18288" rIns="18288" tIns="13716" bIns="13716" anchor="ctr">
            <a:spAutoFit/>
          </a:bodyPr>
          <a:lstStyle/>
          <a:p>
            <a:pPr algn="l">
              <a:spcAft>
                <a:spcPts val="200"/>
              </a:spcAft>
              <a:defRPr sz="1800" b="1">
                <a:solidFill>
                  <a:srgbClr val="F8FAFA"/>
                </a:solidFill>
                <a:latin typeface="Noto Sans CJK SC"/>
              </a:defRPr>
            </a:pPr>
            <a:r>
              <a:t>结构合法性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8096" y="2240280"/>
            <a:ext cx="3182112" cy="3337560"/>
          </a:xfrm>
          <a:prstGeom prst="rect">
            <a:avLst/>
          </a:prstGeom>
          <a:noFill/>
        </p:spPr>
        <p:txBody>
          <a:bodyPr wrap="square" lIns="18288" rIns="18288" tIns="13716" bIns="13716" anchor="t">
            <a:spAutoFit/>
          </a:bodyPr>
          <a:lstStyle/>
          <a:p>
            <a:pPr algn="l">
              <a:spcAft>
                <a:spcPts val="200"/>
              </a:spcAft>
              <a:defRPr sz="1800" b="0">
                <a:solidFill>
                  <a:srgbClr val="ADBFC9"/>
                </a:solidFill>
                <a:latin typeface="Noto Sans CJK SC"/>
              </a:defRPr>
            </a:pPr>
            <a:r>
              <a:t>1–256 步、ID 唯一</a:t>
            </a:r>
          </a:p>
          <a:p>
            <a:pPr algn="l">
              <a:spcAft>
                <a:spcPts val="200"/>
              </a:spcAft>
              <a:defRPr sz="1800" b="0">
                <a:solidFill>
                  <a:srgbClr val="ADBFC9"/>
                </a:solidFill>
                <a:latin typeface="Noto Sans CJK SC"/>
              </a:defRPr>
            </a:pPr>
            <a:r>
              <a:t>依赖存在且无环</a:t>
            </a:r>
          </a:p>
          <a:p>
            <a:pPr algn="l">
              <a:spcAft>
                <a:spcPts val="200"/>
              </a:spcAft>
              <a:defRPr sz="1800" b="0">
                <a:solidFill>
                  <a:srgbClr val="ADBFC9"/>
                </a:solidFill>
                <a:latin typeface="Noto Sans CJK SC"/>
              </a:defRPr>
            </a:pPr>
            <a:r>
              <a:t>所有步骤通向最终验证</a:t>
            </a:r>
          </a:p>
          <a:p>
            <a:pPr algn="l">
              <a:spcAft>
                <a:spcPts val="200"/>
              </a:spcAft>
              <a:defRPr sz="1800" b="0">
                <a:solidFill>
                  <a:srgbClr val="ADBFC9"/>
                </a:solidFill>
                <a:latin typeface="Noto Sans CJK SC"/>
              </a:defRPr>
            </a:pPr>
            <a:r>
              <a:t>引用仅指向直接依赖的输出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06824" y="1572768"/>
            <a:ext cx="3584448" cy="4151376"/>
          </a:xfrm>
          <a:prstGeom prst="roundRect">
            <a:avLst>
              <a:gd name="adj" fmla="val 8000"/>
            </a:avLst>
          </a:prstGeom>
          <a:solidFill>
            <a:srgbClr val="1C32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443984" y="1737360"/>
            <a:ext cx="54864" cy="347472"/>
          </a:xfrm>
          <a:prstGeom prst="rect">
            <a:avLst/>
          </a:prstGeom>
          <a:solidFill>
            <a:srgbClr val="F6C2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90288" y="1709928"/>
            <a:ext cx="3145536" cy="420624"/>
          </a:xfrm>
          <a:prstGeom prst="rect">
            <a:avLst/>
          </a:prstGeom>
          <a:noFill/>
        </p:spPr>
        <p:txBody>
          <a:bodyPr wrap="square" lIns="18288" rIns="18288" tIns="13716" bIns="13716" anchor="ctr">
            <a:spAutoFit/>
          </a:bodyPr>
          <a:lstStyle/>
          <a:p>
            <a:pPr algn="l">
              <a:spcAft>
                <a:spcPts val="200"/>
              </a:spcAft>
              <a:defRPr sz="1800" b="1">
                <a:solidFill>
                  <a:srgbClr val="F8FAFA"/>
                </a:solidFill>
                <a:latin typeface="Noto Sans CJK SC"/>
              </a:defRPr>
            </a:pPr>
            <a:r>
              <a:t>能力与权限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07992" y="2240280"/>
            <a:ext cx="3182112" cy="3337560"/>
          </a:xfrm>
          <a:prstGeom prst="rect">
            <a:avLst/>
          </a:prstGeom>
          <a:noFill/>
        </p:spPr>
        <p:txBody>
          <a:bodyPr wrap="square" lIns="18288" rIns="18288" tIns="13716" bIns="13716" anchor="t">
            <a:spAutoFit/>
          </a:bodyPr>
          <a:lstStyle/>
          <a:p>
            <a:pPr algn="l">
              <a:spcAft>
                <a:spcPts val="200"/>
              </a:spcAft>
              <a:defRPr sz="1800" b="0">
                <a:solidFill>
                  <a:srgbClr val="ADBFC9"/>
                </a:solidFill>
                <a:latin typeface="Noto Sans CJK SC"/>
              </a:defRPr>
            </a:pPr>
            <a:r>
              <a:t>技能必须已注册</a:t>
            </a:r>
          </a:p>
          <a:p>
            <a:pPr algn="l">
              <a:spcAft>
                <a:spcPts val="200"/>
              </a:spcAft>
              <a:defRPr sz="1800" b="0">
                <a:solidFill>
                  <a:srgbClr val="ADBFC9"/>
                </a:solidFill>
                <a:latin typeface="Noto Sans CJK SC"/>
              </a:defRPr>
            </a:pPr>
            <a:r>
              <a:t>模型只见允许暴露的能力字段</a:t>
            </a:r>
          </a:p>
          <a:p>
            <a:pPr algn="l">
              <a:spcAft>
                <a:spcPts val="200"/>
              </a:spcAft>
              <a:defRPr sz="1800" b="0">
                <a:solidFill>
                  <a:srgbClr val="ADBFC9"/>
                </a:solidFill>
                <a:latin typeface="Noto Sans CJK SC"/>
              </a:defRPr>
            </a:pPr>
            <a:r>
              <a:t>最终节点必须是 verifier</a:t>
            </a:r>
          </a:p>
          <a:p>
            <a:pPr algn="l">
              <a:spcAft>
                <a:spcPts val="200"/>
              </a:spcAft>
              <a:defRPr sz="1800" b="0">
                <a:solidFill>
                  <a:srgbClr val="ADBFC9"/>
                </a:solidFill>
                <a:latin typeface="Noto Sans CJK SC"/>
              </a:defRPr>
            </a:pPr>
            <a:r>
              <a:t>重试仅用于安全可重入技能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46720" y="1572768"/>
            <a:ext cx="3584448" cy="4151376"/>
          </a:xfrm>
          <a:prstGeom prst="roundRect">
            <a:avLst>
              <a:gd name="adj" fmla="val 8000"/>
            </a:avLst>
          </a:prstGeom>
          <a:solidFill>
            <a:srgbClr val="1C32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183880" y="1737360"/>
            <a:ext cx="54864" cy="347472"/>
          </a:xfrm>
          <a:prstGeom prst="rect">
            <a:avLst/>
          </a:prstGeom>
          <a:solidFill>
            <a:srgbClr val="87B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30184" y="1709928"/>
            <a:ext cx="3145536" cy="420624"/>
          </a:xfrm>
          <a:prstGeom prst="rect">
            <a:avLst/>
          </a:prstGeom>
          <a:noFill/>
        </p:spPr>
        <p:txBody>
          <a:bodyPr wrap="square" lIns="18288" rIns="18288" tIns="13716" bIns="13716" anchor="ctr">
            <a:spAutoFit/>
          </a:bodyPr>
          <a:lstStyle/>
          <a:p>
            <a:pPr algn="l">
              <a:spcAft>
                <a:spcPts val="200"/>
              </a:spcAft>
              <a:defRPr sz="1800" b="1">
                <a:solidFill>
                  <a:srgbClr val="F8FAFA"/>
                </a:solidFill>
                <a:latin typeface="Noto Sans CJK SC"/>
              </a:defRPr>
            </a:pPr>
            <a:r>
              <a:t>接受与审计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47888" y="2240280"/>
            <a:ext cx="3182112" cy="3337560"/>
          </a:xfrm>
          <a:prstGeom prst="rect">
            <a:avLst/>
          </a:prstGeom>
          <a:noFill/>
        </p:spPr>
        <p:txBody>
          <a:bodyPr wrap="square" lIns="18288" rIns="18288" tIns="13716" bIns="13716" anchor="t">
            <a:spAutoFit/>
          </a:bodyPr>
          <a:lstStyle/>
          <a:p>
            <a:pPr algn="l">
              <a:spcAft>
                <a:spcPts val="200"/>
              </a:spcAft>
              <a:defRPr sz="1800" b="0">
                <a:solidFill>
                  <a:srgbClr val="ADBFC9"/>
                </a:solidFill>
                <a:latin typeface="Noto Sans CJK SC"/>
              </a:defRPr>
            </a:pPr>
            <a:r>
              <a:t>当前资源容量再检查</a:t>
            </a:r>
          </a:p>
          <a:p>
            <a:pPr algn="l">
              <a:spcAft>
                <a:spcPts val="200"/>
              </a:spcAft>
              <a:defRPr sz="1800" b="0">
                <a:solidFill>
                  <a:srgbClr val="ADBFC9"/>
                </a:solidFill>
                <a:latin typeface="Noto Sans CJK SC"/>
              </a:defRPr>
            </a:pPr>
            <a:r>
              <a:t>冻结计划和技能目录</a:t>
            </a:r>
          </a:p>
          <a:p>
            <a:pPr algn="l">
              <a:spcAft>
                <a:spcPts val="200"/>
              </a:spcAft>
              <a:defRPr sz="1800" b="0">
                <a:solidFill>
                  <a:srgbClr val="ADBFC9"/>
                </a:solidFill>
                <a:latin typeface="Noto Sans CJK SC"/>
              </a:defRPr>
            </a:pPr>
            <a:r>
              <a:t>记录原始模型响应</a:t>
            </a:r>
          </a:p>
          <a:p>
            <a:pPr algn="l">
              <a:spcAft>
                <a:spcPts val="200"/>
              </a:spcAft>
              <a:defRPr sz="1800" b="0">
                <a:solidFill>
                  <a:srgbClr val="ADBFC9"/>
                </a:solidFill>
                <a:latin typeface="Noto Sans CJK SC"/>
              </a:defRPr>
            </a:pPr>
            <a:r>
              <a:t>无效候选拒绝，不造默认计划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E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3FD7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19456"/>
            <a:ext cx="9601200" cy="237744"/>
          </a:xfrm>
          <a:prstGeom prst="rect">
            <a:avLst/>
          </a:prstGeom>
          <a:noFill/>
        </p:spPr>
        <p:txBody>
          <a:bodyPr wrap="square" lIns="18288" rIns="18288" tIns="13716" bIns="13716" anchor="ctr">
            <a:spAutoFit/>
          </a:bodyPr>
          <a:lstStyle/>
          <a:p>
            <a:pPr algn="l">
              <a:spcAft>
                <a:spcPts val="200"/>
              </a:spcAft>
              <a:defRPr sz="1000" b="1">
                <a:solidFill>
                  <a:srgbClr val="3FD7C0"/>
                </a:solidFill>
                <a:latin typeface="Noto Sans CJK SC"/>
              </a:defRPr>
            </a:pPr>
            <a:r>
              <a:t>07 / RUNTIME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76072"/>
            <a:ext cx="11109960" cy="530352"/>
          </a:xfrm>
          <a:prstGeom prst="rect">
            <a:avLst/>
          </a:prstGeom>
          <a:noFill/>
        </p:spPr>
        <p:txBody>
          <a:bodyPr wrap="square" lIns="18288" rIns="18288" tIns="13716" bIns="13716" anchor="ctr">
            <a:spAutoFit/>
          </a:bodyPr>
          <a:lstStyle/>
          <a:p>
            <a:pPr algn="l">
              <a:spcAft>
                <a:spcPts val="200"/>
              </a:spcAft>
              <a:defRPr sz="2600" b="1">
                <a:solidFill>
                  <a:srgbClr val="F8FAFA"/>
                </a:solidFill>
                <a:latin typeface="Noto Sans CJK SC"/>
              </a:defRPr>
            </a:pPr>
            <a:r>
              <a:t>任务执行闭环：身份、资源和真实证据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457200" y="1216152"/>
            <a:ext cx="11274552" cy="0"/>
          </a:xfrm>
          <a:prstGeom prst="line">
            <a:avLst/>
          </a:prstGeom>
          <a:ln w="12700">
            <a:solidFill>
              <a:srgbClr val="3A4F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457200" y="6510528"/>
            <a:ext cx="10789920" cy="192024"/>
          </a:xfrm>
          <a:prstGeom prst="rect">
            <a:avLst/>
          </a:prstGeom>
          <a:noFill/>
        </p:spPr>
        <p:txBody>
          <a:bodyPr wrap="square" lIns="18288" rIns="18288" tIns="13716" bIns="13716" anchor="ctr">
            <a:spAutoFit/>
          </a:bodyPr>
          <a:lstStyle/>
          <a:p>
            <a:pPr algn="l">
              <a:spcAft>
                <a:spcPts val="200"/>
              </a:spcAft>
              <a:defRPr sz="800" b="0">
                <a:solidFill>
                  <a:srgbClr val="ADBFC9"/>
                </a:solidFill>
                <a:latin typeface="Noto Sans CJK SC"/>
              </a:defRPr>
            </a:pPr>
            <a:r>
              <a:t>依据：docs/ARCHITECTURE.md；tests/test_http_execution.py、test_durable_planner.py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01400" y="6464808"/>
            <a:ext cx="457200" cy="256032"/>
          </a:xfrm>
          <a:prstGeom prst="rect">
            <a:avLst/>
          </a:prstGeom>
          <a:noFill/>
        </p:spPr>
        <p:txBody>
          <a:bodyPr wrap="square" lIns="18288" rIns="18288" tIns="13716" bIns="13716" anchor="ctr">
            <a:spAutoFit/>
          </a:bodyPr>
          <a:lstStyle/>
          <a:p>
            <a:pPr algn="r">
              <a:spcAft>
                <a:spcPts val="200"/>
              </a:spcAft>
              <a:defRPr sz="1000" b="1">
                <a:solidFill>
                  <a:srgbClr val="3FD7C0"/>
                </a:solidFill>
                <a:latin typeface="Noto Sans CJK SC"/>
              </a:defRPr>
            </a:pPr>
            <a:r>
              <a:t>08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508760"/>
            <a:ext cx="10881360" cy="932688"/>
          </a:xfrm>
          <a:prstGeom prst="roundRect">
            <a:avLst>
              <a:gd name="adj" fmla="val 8000"/>
            </a:avLst>
          </a:prstGeom>
          <a:solidFill>
            <a:srgbClr val="1C32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859536" y="1764792"/>
            <a:ext cx="539496" cy="384048"/>
          </a:xfrm>
          <a:prstGeom prst="roundRect">
            <a:avLst>
              <a:gd name="adj" fmla="val 8000"/>
            </a:avLst>
          </a:prstGeom>
          <a:solidFill>
            <a:srgbClr val="3FD7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05256" y="1783080"/>
            <a:ext cx="448056" cy="329184"/>
          </a:xfrm>
          <a:prstGeom prst="rect">
            <a:avLst/>
          </a:prstGeom>
          <a:noFill/>
        </p:spPr>
        <p:txBody>
          <a:bodyPr wrap="square" lIns="18288" rIns="18288" tIns="13716" bIns="13716" anchor="ctr">
            <a:spAutoFit/>
          </a:bodyPr>
          <a:lstStyle/>
          <a:p>
            <a:pPr algn="ctr">
              <a:spcAft>
                <a:spcPts val="200"/>
              </a:spcAft>
              <a:defRPr sz="1100" b="1">
                <a:solidFill>
                  <a:srgbClr val="0F1E30"/>
                </a:solidFill>
                <a:latin typeface="Noto Sans CJK SC"/>
              </a:defRPr>
            </a:pPr>
            <a: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18488" y="1673351"/>
            <a:ext cx="1170432" cy="539496"/>
          </a:xfrm>
          <a:prstGeom prst="rect">
            <a:avLst/>
          </a:prstGeom>
          <a:noFill/>
        </p:spPr>
        <p:txBody>
          <a:bodyPr wrap="square" lIns="18288" rIns="18288" tIns="13716" bIns="13716" anchor="ctr">
            <a:spAutoFit/>
          </a:bodyPr>
          <a:lstStyle/>
          <a:p>
            <a:pPr algn="l">
              <a:spcAft>
                <a:spcPts val="200"/>
              </a:spcAft>
              <a:defRPr sz="1900" b="1">
                <a:solidFill>
                  <a:srgbClr val="F8FAFA"/>
                </a:solidFill>
                <a:latin typeface="Noto Sans CJK SC"/>
              </a:defRPr>
            </a:pPr>
            <a:r>
              <a:t>派发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843784" y="1664207"/>
            <a:ext cx="8275320" cy="566928"/>
          </a:xfrm>
          <a:prstGeom prst="rect">
            <a:avLst/>
          </a:prstGeom>
          <a:noFill/>
        </p:spPr>
        <p:txBody>
          <a:bodyPr wrap="square" lIns="18288" rIns="18288" tIns="13716" bIns="13716" anchor="ctr">
            <a:spAutoFit/>
          </a:bodyPr>
          <a:lstStyle/>
          <a:p>
            <a:pPr algn="l">
              <a:spcAft>
                <a:spcPts val="200"/>
              </a:spcAft>
              <a:defRPr sz="1700" b="0">
                <a:solidFill>
                  <a:srgbClr val="ADBFC9"/>
                </a:solidFill>
                <a:latin typeface="Noto Sans CJK SC"/>
              </a:defRPr>
            </a:pPr>
            <a:r>
              <a:t>依赖成功 + 资源可得；外部 IO 前保存 execution ID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2624328"/>
            <a:ext cx="10881360" cy="932688"/>
          </a:xfrm>
          <a:prstGeom prst="roundRect">
            <a:avLst>
              <a:gd name="adj" fmla="val 8000"/>
            </a:avLst>
          </a:prstGeom>
          <a:solidFill>
            <a:srgbClr val="1C32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859536" y="2880360"/>
            <a:ext cx="539496" cy="384048"/>
          </a:xfrm>
          <a:prstGeom prst="roundRect">
            <a:avLst>
              <a:gd name="adj" fmla="val 8000"/>
            </a:avLst>
          </a:prstGeom>
          <a:solidFill>
            <a:srgbClr val="F6C2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05256" y="2898648"/>
            <a:ext cx="448056" cy="329184"/>
          </a:xfrm>
          <a:prstGeom prst="rect">
            <a:avLst/>
          </a:prstGeom>
          <a:noFill/>
        </p:spPr>
        <p:txBody>
          <a:bodyPr wrap="square" lIns="18288" rIns="18288" tIns="13716" bIns="13716" anchor="ctr">
            <a:spAutoFit/>
          </a:bodyPr>
          <a:lstStyle/>
          <a:p>
            <a:pPr algn="ctr">
              <a:spcAft>
                <a:spcPts val="200"/>
              </a:spcAft>
              <a:defRPr sz="1100" b="1">
                <a:solidFill>
                  <a:srgbClr val="0F1E30"/>
                </a:solidFill>
                <a:latin typeface="Noto Sans CJK SC"/>
              </a:defRPr>
            </a:pPr>
            <a:r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18488" y="2788920"/>
            <a:ext cx="1170432" cy="539496"/>
          </a:xfrm>
          <a:prstGeom prst="rect">
            <a:avLst/>
          </a:prstGeom>
          <a:noFill/>
        </p:spPr>
        <p:txBody>
          <a:bodyPr wrap="square" lIns="18288" rIns="18288" tIns="13716" bIns="13716" anchor="ctr">
            <a:spAutoFit/>
          </a:bodyPr>
          <a:lstStyle/>
          <a:p>
            <a:pPr algn="l">
              <a:spcAft>
                <a:spcPts val="200"/>
              </a:spcAft>
              <a:defRPr sz="1900" b="1">
                <a:solidFill>
                  <a:srgbClr val="F8FAFA"/>
                </a:solidFill>
                <a:latin typeface="Noto Sans CJK SC"/>
              </a:defRPr>
            </a:pPr>
            <a:r>
              <a:t>执行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843784" y="2779776"/>
            <a:ext cx="8275320" cy="566928"/>
          </a:xfrm>
          <a:prstGeom prst="rect">
            <a:avLst/>
          </a:prstGeom>
          <a:noFill/>
        </p:spPr>
        <p:txBody>
          <a:bodyPr wrap="square" lIns="18288" rIns="18288" tIns="13716" bIns="13716" anchor="ctr">
            <a:spAutoFit/>
          </a:bodyPr>
          <a:lstStyle/>
          <a:p>
            <a:pPr algn="l">
              <a:spcAft>
                <a:spcPts val="200"/>
              </a:spcAft>
              <a:defRPr sz="1700" b="0">
                <a:solidFill>
                  <a:srgbClr val="ADBFC9"/>
                </a:solidFill>
                <a:latin typeface="Noto Sans CJK SC"/>
              </a:defRPr>
            </a:pPr>
            <a:r>
              <a:t>PUT execute / GET query / POST cancel；按原 ID 恢复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" y="3739896"/>
            <a:ext cx="10881360" cy="932688"/>
          </a:xfrm>
          <a:prstGeom prst="roundRect">
            <a:avLst>
              <a:gd name="adj" fmla="val 8000"/>
            </a:avLst>
          </a:prstGeom>
          <a:solidFill>
            <a:srgbClr val="1C32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859536" y="3995928"/>
            <a:ext cx="539496" cy="384048"/>
          </a:xfrm>
          <a:prstGeom prst="roundRect">
            <a:avLst>
              <a:gd name="adj" fmla="val 8000"/>
            </a:avLst>
          </a:prstGeom>
          <a:solidFill>
            <a:srgbClr val="87B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05256" y="4014215"/>
            <a:ext cx="448056" cy="329184"/>
          </a:xfrm>
          <a:prstGeom prst="rect">
            <a:avLst/>
          </a:prstGeom>
          <a:noFill/>
        </p:spPr>
        <p:txBody>
          <a:bodyPr wrap="square" lIns="18288" rIns="18288" tIns="13716" bIns="13716" anchor="ctr">
            <a:spAutoFit/>
          </a:bodyPr>
          <a:lstStyle/>
          <a:p>
            <a:pPr algn="ctr">
              <a:spcAft>
                <a:spcPts val="200"/>
              </a:spcAft>
              <a:defRPr sz="1100" b="1">
                <a:solidFill>
                  <a:srgbClr val="0F1E30"/>
                </a:solidFill>
                <a:latin typeface="Noto Sans CJK SC"/>
              </a:defRPr>
            </a:pPr>
            <a:r>
              <a:t>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618488" y="3904487"/>
            <a:ext cx="1170432" cy="539496"/>
          </a:xfrm>
          <a:prstGeom prst="rect">
            <a:avLst/>
          </a:prstGeom>
          <a:noFill/>
        </p:spPr>
        <p:txBody>
          <a:bodyPr wrap="square" lIns="18288" rIns="18288" tIns="13716" bIns="13716" anchor="ctr">
            <a:spAutoFit/>
          </a:bodyPr>
          <a:lstStyle/>
          <a:p>
            <a:pPr algn="l">
              <a:spcAft>
                <a:spcPts val="200"/>
              </a:spcAft>
              <a:defRPr sz="1900" b="1">
                <a:solidFill>
                  <a:srgbClr val="F8FAFA"/>
                </a:solidFill>
                <a:latin typeface="Noto Sans CJK SC"/>
              </a:defRPr>
            </a:pPr>
            <a:r>
              <a:t>判定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843784" y="3895344"/>
            <a:ext cx="8275320" cy="566928"/>
          </a:xfrm>
          <a:prstGeom prst="rect">
            <a:avLst/>
          </a:prstGeom>
          <a:noFill/>
        </p:spPr>
        <p:txBody>
          <a:bodyPr wrap="square" lIns="18288" rIns="18288" tIns="13716" bIns="13716" anchor="ctr">
            <a:spAutoFit/>
          </a:bodyPr>
          <a:lstStyle/>
          <a:p>
            <a:pPr algn="l">
              <a:spcAft>
                <a:spcPts val="200"/>
              </a:spcAft>
              <a:defRPr sz="1700" b="0">
                <a:solidFill>
                  <a:srgbClr val="ADBFC9"/>
                </a:solidFill>
                <a:latin typeface="Noto Sans CJK SC"/>
              </a:defRPr>
            </a:pPr>
            <a:r>
              <a:t>终态 + quiescent + schema + 后置条件 + 来源证据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40080" y="4855464"/>
            <a:ext cx="10881360" cy="932688"/>
          </a:xfrm>
          <a:prstGeom prst="roundRect">
            <a:avLst>
              <a:gd name="adj" fmla="val 8000"/>
            </a:avLst>
          </a:prstGeom>
          <a:solidFill>
            <a:srgbClr val="1C32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859536" y="5111496"/>
            <a:ext cx="539496" cy="384048"/>
          </a:xfrm>
          <a:prstGeom prst="roundRect">
            <a:avLst>
              <a:gd name="adj" fmla="val 8000"/>
            </a:avLst>
          </a:prstGeom>
          <a:solidFill>
            <a:srgbClr val="F57D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05256" y="5129784"/>
            <a:ext cx="448056" cy="329184"/>
          </a:xfrm>
          <a:prstGeom prst="rect">
            <a:avLst/>
          </a:prstGeom>
          <a:noFill/>
        </p:spPr>
        <p:txBody>
          <a:bodyPr wrap="square" lIns="18288" rIns="18288" tIns="13716" bIns="13716" anchor="ctr">
            <a:spAutoFit/>
          </a:bodyPr>
          <a:lstStyle/>
          <a:p>
            <a:pPr algn="ctr">
              <a:spcAft>
                <a:spcPts val="200"/>
              </a:spcAft>
              <a:defRPr sz="1100" b="1">
                <a:solidFill>
                  <a:srgbClr val="0F1E30"/>
                </a:solidFill>
                <a:latin typeface="Noto Sans CJK SC"/>
              </a:defRPr>
            </a:pPr>
            <a:r>
              <a:t>04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618488" y="5020056"/>
            <a:ext cx="1170432" cy="539496"/>
          </a:xfrm>
          <a:prstGeom prst="rect">
            <a:avLst/>
          </a:prstGeom>
          <a:noFill/>
        </p:spPr>
        <p:txBody>
          <a:bodyPr wrap="square" lIns="18288" rIns="18288" tIns="13716" bIns="13716" anchor="ctr">
            <a:spAutoFit/>
          </a:bodyPr>
          <a:lstStyle/>
          <a:p>
            <a:pPr algn="l">
              <a:spcAft>
                <a:spcPts val="200"/>
              </a:spcAft>
              <a:defRPr sz="1900" b="1">
                <a:solidFill>
                  <a:srgbClr val="F8FAFA"/>
                </a:solidFill>
                <a:latin typeface="Noto Sans CJK SC"/>
              </a:defRPr>
            </a:pPr>
            <a:r>
              <a:t>异常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843784" y="5010912"/>
            <a:ext cx="8275320" cy="566928"/>
          </a:xfrm>
          <a:prstGeom prst="rect">
            <a:avLst/>
          </a:prstGeom>
          <a:noFill/>
        </p:spPr>
        <p:txBody>
          <a:bodyPr wrap="square" lIns="18288" rIns="18288" tIns="13716" bIns="13716" anchor="ctr">
            <a:spAutoFit/>
          </a:bodyPr>
          <a:lstStyle/>
          <a:p>
            <a:pPr algn="l">
              <a:spcAft>
                <a:spcPts val="200"/>
              </a:spcAft>
              <a:defRPr sz="1700" b="0">
                <a:solidFill>
                  <a:srgbClr val="ADBFC9"/>
                </a:solidFill>
                <a:latin typeface="Noto Sans CJK SC"/>
              </a:defRPr>
            </a:pPr>
            <a:r>
              <a:t>unknown 不重发、不释放资源；取消优先于迟到重规划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E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3FD7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19456"/>
            <a:ext cx="9601200" cy="237744"/>
          </a:xfrm>
          <a:prstGeom prst="rect">
            <a:avLst/>
          </a:prstGeom>
          <a:noFill/>
        </p:spPr>
        <p:txBody>
          <a:bodyPr wrap="square" lIns="18288" rIns="18288" tIns="13716" bIns="13716" anchor="ctr">
            <a:spAutoFit/>
          </a:bodyPr>
          <a:lstStyle/>
          <a:p>
            <a:pPr algn="l">
              <a:spcAft>
                <a:spcPts val="200"/>
              </a:spcAft>
              <a:defRPr sz="1000" b="1">
                <a:solidFill>
                  <a:srgbClr val="3FD7C0"/>
                </a:solidFill>
                <a:latin typeface="Noto Sans CJK SC"/>
              </a:defRPr>
            </a:pPr>
            <a:r>
              <a:t>08 / 当前阶段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76072"/>
            <a:ext cx="11109960" cy="530352"/>
          </a:xfrm>
          <a:prstGeom prst="rect">
            <a:avLst/>
          </a:prstGeom>
          <a:noFill/>
        </p:spPr>
        <p:txBody>
          <a:bodyPr wrap="square" lIns="18288" rIns="18288" tIns="13716" bIns="13716" anchor="ctr">
            <a:spAutoFit/>
          </a:bodyPr>
          <a:lstStyle/>
          <a:p>
            <a:pPr algn="l">
              <a:spcAft>
                <a:spcPts val="200"/>
              </a:spcAft>
              <a:defRPr sz="2600" b="1">
                <a:solidFill>
                  <a:srgbClr val="F8FAFA"/>
                </a:solidFill>
                <a:latin typeface="Noto Sans CJK SC"/>
              </a:defRPr>
            </a:pPr>
            <a:r>
              <a:t>路线图阶段 1：执行权威与恢复闭环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457200" y="1216152"/>
            <a:ext cx="11274552" cy="0"/>
          </a:xfrm>
          <a:prstGeom prst="line">
            <a:avLst/>
          </a:prstGeom>
          <a:ln w="12700">
            <a:solidFill>
              <a:srgbClr val="3A4F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457200" y="6510528"/>
            <a:ext cx="10789920" cy="192024"/>
          </a:xfrm>
          <a:prstGeom prst="rect">
            <a:avLst/>
          </a:prstGeom>
          <a:noFill/>
        </p:spPr>
        <p:txBody>
          <a:bodyPr wrap="square" lIns="18288" rIns="18288" tIns="13716" bIns="13716" anchor="ctr">
            <a:spAutoFit/>
          </a:bodyPr>
          <a:lstStyle/>
          <a:p>
            <a:pPr algn="l">
              <a:spcAft>
                <a:spcPts val="200"/>
              </a:spcAft>
              <a:defRPr sz="800" b="0">
                <a:solidFill>
                  <a:srgbClr val="ADBFC9"/>
                </a:solidFill>
                <a:latin typeface="Noto Sans CJK SC"/>
              </a:defRPr>
            </a:pPr>
            <a:r>
              <a:t>依据：docs/BUILD_ROADMAP.md §阶段 1；docs/PROJECT_STATUS.md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01400" y="6464808"/>
            <a:ext cx="457200" cy="256032"/>
          </a:xfrm>
          <a:prstGeom prst="rect">
            <a:avLst/>
          </a:prstGeom>
          <a:noFill/>
        </p:spPr>
        <p:txBody>
          <a:bodyPr wrap="square" lIns="18288" rIns="18288" tIns="13716" bIns="13716" anchor="ctr">
            <a:spAutoFit/>
          </a:bodyPr>
          <a:lstStyle/>
          <a:p>
            <a:pPr algn="r">
              <a:spcAft>
                <a:spcPts val="200"/>
              </a:spcAft>
              <a:defRPr sz="1000" b="1">
                <a:solidFill>
                  <a:srgbClr val="3FD7C0"/>
                </a:solidFill>
                <a:latin typeface="Noto Sans CJK SC"/>
              </a:defRPr>
            </a:pPr>
            <a:r>
              <a:t>09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" y="1481328"/>
            <a:ext cx="10954512" cy="960120"/>
          </a:xfrm>
          <a:prstGeom prst="roundRect">
            <a:avLst>
              <a:gd name="adj" fmla="val 8000"/>
            </a:avLst>
          </a:prstGeom>
          <a:solidFill>
            <a:srgbClr val="1C32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859536" y="1737360"/>
            <a:ext cx="960120" cy="384048"/>
          </a:xfrm>
          <a:prstGeom prst="roundRect">
            <a:avLst>
              <a:gd name="adj" fmla="val 8000"/>
            </a:avLst>
          </a:prstGeom>
          <a:solidFill>
            <a:srgbClr val="3FD7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05256" y="1755648"/>
            <a:ext cx="868680" cy="329184"/>
          </a:xfrm>
          <a:prstGeom prst="rect">
            <a:avLst/>
          </a:prstGeom>
          <a:noFill/>
        </p:spPr>
        <p:txBody>
          <a:bodyPr wrap="square" lIns="18288" rIns="18288" tIns="13716" bIns="13716" anchor="ctr">
            <a:spAutoFit/>
          </a:bodyPr>
          <a:lstStyle/>
          <a:p>
            <a:pPr algn="ctr">
              <a:spcAft>
                <a:spcPts val="200"/>
              </a:spcAft>
              <a:defRPr sz="1200" b="1">
                <a:solidFill>
                  <a:srgbClr val="0F1E30"/>
                </a:solidFill>
                <a:latin typeface="Noto Sans CJK SC"/>
              </a:defRPr>
            </a:pPr>
            <a:r>
              <a:t>已完成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011680" y="1636776"/>
            <a:ext cx="2834640" cy="521207"/>
          </a:xfrm>
          <a:prstGeom prst="rect">
            <a:avLst/>
          </a:prstGeom>
          <a:noFill/>
        </p:spPr>
        <p:txBody>
          <a:bodyPr wrap="square" lIns="18288" rIns="18288" tIns="13716" bIns="13716" anchor="ctr">
            <a:spAutoFit/>
          </a:bodyPr>
          <a:lstStyle/>
          <a:p>
            <a:pPr algn="l">
              <a:spcAft>
                <a:spcPts val="200"/>
              </a:spcAft>
              <a:defRPr sz="2000" b="1">
                <a:solidFill>
                  <a:srgbClr val="F8FAFA"/>
                </a:solidFill>
                <a:latin typeface="Noto Sans CJK SC"/>
              </a:defRPr>
            </a:pPr>
            <a:r>
              <a:t>历史计划快照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937760" y="1627632"/>
            <a:ext cx="6254496" cy="585216"/>
          </a:xfrm>
          <a:prstGeom prst="rect">
            <a:avLst/>
          </a:prstGeom>
          <a:noFill/>
        </p:spPr>
        <p:txBody>
          <a:bodyPr wrap="square" lIns="18288" rIns="18288" tIns="13716" bIns="13716" anchor="ctr">
            <a:spAutoFit/>
          </a:bodyPr>
          <a:lstStyle/>
          <a:p>
            <a:pPr algn="l">
              <a:spcAft>
                <a:spcPts val="200"/>
              </a:spcAft>
              <a:defRPr sz="1600" b="0">
                <a:solidFill>
                  <a:srgbClr val="ADBFC9"/>
                </a:solidFill>
                <a:latin typeface="Noto Sans CJK SC"/>
              </a:defRPr>
            </a:pPr>
            <a:r>
              <a:t>plan / steps / catalog / revision / generation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" y="2606040"/>
            <a:ext cx="10954512" cy="960120"/>
          </a:xfrm>
          <a:prstGeom prst="roundRect">
            <a:avLst>
              <a:gd name="adj" fmla="val 8000"/>
            </a:avLst>
          </a:prstGeom>
          <a:solidFill>
            <a:srgbClr val="1C32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859536" y="2862072"/>
            <a:ext cx="960120" cy="384048"/>
          </a:xfrm>
          <a:prstGeom prst="roundRect">
            <a:avLst>
              <a:gd name="adj" fmla="val 8000"/>
            </a:avLst>
          </a:prstGeom>
          <a:solidFill>
            <a:srgbClr val="F6C2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05256" y="2880360"/>
            <a:ext cx="868680" cy="329184"/>
          </a:xfrm>
          <a:prstGeom prst="rect">
            <a:avLst/>
          </a:prstGeom>
          <a:noFill/>
        </p:spPr>
        <p:txBody>
          <a:bodyPr wrap="square" lIns="18288" rIns="18288" tIns="13716" bIns="13716" anchor="ctr">
            <a:spAutoFit/>
          </a:bodyPr>
          <a:lstStyle/>
          <a:p>
            <a:pPr algn="ctr">
              <a:spcAft>
                <a:spcPts val="200"/>
              </a:spcAft>
              <a:defRPr sz="1200" b="1">
                <a:solidFill>
                  <a:srgbClr val="0F1E30"/>
                </a:solidFill>
                <a:latin typeface="Noto Sans CJK SC"/>
              </a:defRPr>
            </a:pPr>
            <a:r>
              <a:t>下一项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011680" y="2761488"/>
            <a:ext cx="2834640" cy="521207"/>
          </a:xfrm>
          <a:prstGeom prst="rect">
            <a:avLst/>
          </a:prstGeom>
          <a:noFill/>
        </p:spPr>
        <p:txBody>
          <a:bodyPr wrap="square" lIns="18288" rIns="18288" tIns="13716" bIns="13716" anchor="ctr">
            <a:spAutoFit/>
          </a:bodyPr>
          <a:lstStyle/>
          <a:p>
            <a:pPr algn="l">
              <a:spcAft>
                <a:spcPts val="200"/>
              </a:spcAft>
              <a:defRPr sz="2000" b="1">
                <a:solidFill>
                  <a:srgbClr val="F8FAFA"/>
                </a:solidFill>
                <a:latin typeface="Noto Sans CJK SC"/>
              </a:defRPr>
            </a:pPr>
            <a:r>
              <a:t>控制端 fencing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937760" y="2752344"/>
            <a:ext cx="6254496" cy="585216"/>
          </a:xfrm>
          <a:prstGeom prst="rect">
            <a:avLst/>
          </a:prstGeom>
          <a:noFill/>
        </p:spPr>
        <p:txBody>
          <a:bodyPr wrap="square" lIns="18288" rIns="18288" tIns="13716" bIns="13716" anchor="ctr">
            <a:spAutoFit/>
          </a:bodyPr>
          <a:lstStyle/>
          <a:p>
            <a:pPr algn="l">
              <a:spcAft>
                <a:spcPts val="200"/>
              </a:spcAft>
              <a:defRPr sz="1600" b="0">
                <a:solidFill>
                  <a:srgbClr val="ADBFC9"/>
                </a:solidFill>
                <a:latin typeface="Noto Sans CJK SC"/>
              </a:defRPr>
            </a:pPr>
            <a:r>
              <a:t>单调 token；旧执行者不能再推进副作用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1792" y="3730752"/>
            <a:ext cx="10954512" cy="960120"/>
          </a:xfrm>
          <a:prstGeom prst="roundRect">
            <a:avLst>
              <a:gd name="adj" fmla="val 8000"/>
            </a:avLst>
          </a:prstGeom>
          <a:solidFill>
            <a:srgbClr val="1C32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859536" y="3986784"/>
            <a:ext cx="960120" cy="384048"/>
          </a:xfrm>
          <a:prstGeom prst="roundRect">
            <a:avLst>
              <a:gd name="adj" fmla="val 8000"/>
            </a:avLst>
          </a:prstGeom>
          <a:solidFill>
            <a:srgbClr val="87B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05256" y="4005072"/>
            <a:ext cx="868680" cy="329184"/>
          </a:xfrm>
          <a:prstGeom prst="rect">
            <a:avLst/>
          </a:prstGeom>
          <a:noFill/>
        </p:spPr>
        <p:txBody>
          <a:bodyPr wrap="square" lIns="18288" rIns="18288" tIns="13716" bIns="13716" anchor="ctr">
            <a:spAutoFit/>
          </a:bodyPr>
          <a:lstStyle/>
          <a:p>
            <a:pPr algn="ctr">
              <a:spcAft>
                <a:spcPts val="200"/>
              </a:spcAft>
              <a:defRPr sz="1200" b="1">
                <a:solidFill>
                  <a:srgbClr val="0F1E30"/>
                </a:solidFill>
                <a:latin typeface="Noto Sans CJK SC"/>
              </a:defRPr>
            </a:pPr>
            <a:r>
              <a:t>随后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011680" y="3886200"/>
            <a:ext cx="2834640" cy="521207"/>
          </a:xfrm>
          <a:prstGeom prst="rect">
            <a:avLst/>
          </a:prstGeom>
          <a:noFill/>
        </p:spPr>
        <p:txBody>
          <a:bodyPr wrap="square" lIns="18288" rIns="18288" tIns="13716" bIns="13716" anchor="ctr">
            <a:spAutoFit/>
          </a:bodyPr>
          <a:lstStyle/>
          <a:p>
            <a:pPr algn="l">
              <a:spcAft>
                <a:spcPts val="200"/>
              </a:spcAft>
              <a:defRPr sz="2000" b="1">
                <a:solidFill>
                  <a:srgbClr val="F8FAFA"/>
                </a:solidFill>
                <a:latin typeface="Noto Sans CJK SC"/>
              </a:defRPr>
            </a:pPr>
            <a:r>
              <a:t>补偿与人工接管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937760" y="3877056"/>
            <a:ext cx="6254496" cy="585216"/>
          </a:xfrm>
          <a:prstGeom prst="rect">
            <a:avLst/>
          </a:prstGeom>
          <a:noFill/>
        </p:spPr>
        <p:txBody>
          <a:bodyPr wrap="square" lIns="18288" rIns="18288" tIns="13716" bIns="13716" anchor="ctr">
            <a:spAutoFit/>
          </a:bodyPr>
          <a:lstStyle/>
          <a:p>
            <a:pPr algn="l">
              <a:spcAft>
                <a:spcPts val="200"/>
              </a:spcAft>
              <a:defRPr sz="1600" b="0">
                <a:solidFill>
                  <a:srgbClr val="ADBFC9"/>
                </a:solidFill>
                <a:latin typeface="Noto Sans CJK SC"/>
              </a:defRPr>
            </a:pPr>
            <a:r>
              <a:t>补偿条件、实际执行、结果与人工终态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21792" y="4855464"/>
            <a:ext cx="10954512" cy="960120"/>
          </a:xfrm>
          <a:prstGeom prst="roundRect">
            <a:avLst>
              <a:gd name="adj" fmla="val 8000"/>
            </a:avLst>
          </a:prstGeom>
          <a:solidFill>
            <a:srgbClr val="1C32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859536" y="5111496"/>
            <a:ext cx="960120" cy="384048"/>
          </a:xfrm>
          <a:prstGeom prst="roundRect">
            <a:avLst>
              <a:gd name="adj" fmla="val 8000"/>
            </a:avLst>
          </a:prstGeom>
          <a:solidFill>
            <a:srgbClr val="F57D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05256" y="5129784"/>
            <a:ext cx="868680" cy="329184"/>
          </a:xfrm>
          <a:prstGeom prst="rect">
            <a:avLst/>
          </a:prstGeom>
          <a:noFill/>
        </p:spPr>
        <p:txBody>
          <a:bodyPr wrap="square" lIns="18288" rIns="18288" tIns="13716" bIns="13716" anchor="ctr">
            <a:spAutoFit/>
          </a:bodyPr>
          <a:lstStyle/>
          <a:p>
            <a:pPr algn="ctr">
              <a:spcAft>
                <a:spcPts val="200"/>
              </a:spcAft>
              <a:defRPr sz="1200" b="1">
                <a:solidFill>
                  <a:srgbClr val="0F1E30"/>
                </a:solidFill>
                <a:latin typeface="Noto Sans CJK SC"/>
              </a:defRPr>
            </a:pPr>
            <a:r>
              <a:t>随后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011680" y="5010912"/>
            <a:ext cx="2834640" cy="521207"/>
          </a:xfrm>
          <a:prstGeom prst="rect">
            <a:avLst/>
          </a:prstGeom>
          <a:noFill/>
        </p:spPr>
        <p:txBody>
          <a:bodyPr wrap="square" lIns="18288" rIns="18288" tIns="13716" bIns="13716" anchor="ctr">
            <a:spAutoFit/>
          </a:bodyPr>
          <a:lstStyle/>
          <a:p>
            <a:pPr algn="l">
              <a:spcAft>
                <a:spcPts val="200"/>
              </a:spcAft>
              <a:defRPr sz="2000" b="1">
                <a:solidFill>
                  <a:srgbClr val="F8FAFA"/>
                </a:solidFill>
                <a:latin typeface="Noto Sans CJK SC"/>
              </a:defRPr>
            </a:pPr>
            <a:r>
              <a:t>重试归属 + 故障矩阵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937760" y="5001768"/>
            <a:ext cx="6254496" cy="585216"/>
          </a:xfrm>
          <a:prstGeom prst="rect">
            <a:avLst/>
          </a:prstGeom>
          <a:noFill/>
        </p:spPr>
        <p:txBody>
          <a:bodyPr wrap="square" lIns="18288" rIns="18288" tIns="13716" bIns="13716" anchor="ctr">
            <a:spAutoFit/>
          </a:bodyPr>
          <a:lstStyle/>
          <a:p>
            <a:pPr algn="l">
              <a:spcAft>
                <a:spcPts val="200"/>
              </a:spcAft>
              <a:defRPr sz="1600" b="0">
                <a:solidFill>
                  <a:srgbClr val="ADBFC9"/>
                </a:solidFill>
                <a:latin typeface="Noto Sans CJK SC"/>
              </a:defRPr>
            </a:pPr>
            <a:r>
              <a:t>防重复副作用；覆盖断进程、超时、迟到响应等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E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3FD7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19456"/>
            <a:ext cx="9601200" cy="237744"/>
          </a:xfrm>
          <a:prstGeom prst="rect">
            <a:avLst/>
          </a:prstGeom>
          <a:noFill/>
        </p:spPr>
        <p:txBody>
          <a:bodyPr wrap="square" lIns="18288" rIns="18288" tIns="13716" bIns="13716" anchor="ctr">
            <a:spAutoFit/>
          </a:bodyPr>
          <a:lstStyle/>
          <a:p>
            <a:pPr algn="l">
              <a:spcAft>
                <a:spcPts val="200"/>
              </a:spcAft>
              <a:defRPr sz="1000" b="1">
                <a:solidFill>
                  <a:srgbClr val="3FD7C0"/>
                </a:solidFill>
                <a:latin typeface="Noto Sans CJK SC"/>
              </a:defRPr>
            </a:pPr>
            <a:r>
              <a:t>09 / 验收口径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76072"/>
            <a:ext cx="11109960" cy="530352"/>
          </a:xfrm>
          <a:prstGeom prst="rect">
            <a:avLst/>
          </a:prstGeom>
          <a:noFill/>
        </p:spPr>
        <p:txBody>
          <a:bodyPr wrap="square" lIns="18288" rIns="18288" tIns="13716" bIns="13716" anchor="ctr">
            <a:spAutoFit/>
          </a:bodyPr>
          <a:lstStyle/>
          <a:p>
            <a:pPr algn="l">
              <a:spcAft>
                <a:spcPts val="200"/>
              </a:spcAft>
              <a:defRPr sz="2600" b="1">
                <a:solidFill>
                  <a:srgbClr val="F8FAFA"/>
                </a:solidFill>
                <a:latin typeface="Noto Sans CJK SC"/>
              </a:defRPr>
            </a:pPr>
            <a:r>
              <a:t>把“已有证据”和“建议指标”放在两列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457200" y="1216152"/>
            <a:ext cx="11274552" cy="0"/>
          </a:xfrm>
          <a:prstGeom prst="line">
            <a:avLst/>
          </a:prstGeom>
          <a:ln w="12700">
            <a:solidFill>
              <a:srgbClr val="3A4F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457200" y="6510528"/>
            <a:ext cx="10789920" cy="192024"/>
          </a:xfrm>
          <a:prstGeom prst="rect">
            <a:avLst/>
          </a:prstGeom>
          <a:noFill/>
        </p:spPr>
        <p:txBody>
          <a:bodyPr wrap="square" lIns="18288" rIns="18288" tIns="13716" bIns="13716" anchor="ctr">
            <a:spAutoFit/>
          </a:bodyPr>
          <a:lstStyle/>
          <a:p>
            <a:pPr algn="l">
              <a:spcAft>
                <a:spcPts val="200"/>
              </a:spcAft>
              <a:defRPr sz="800" b="0">
                <a:solidFill>
                  <a:srgbClr val="ADBFC9"/>
                </a:solidFill>
                <a:latin typeface="Noto Sans CJK SC"/>
              </a:defRPr>
            </a:pPr>
            <a:r>
              <a:t>依据：2026-09-14 本地 pytest；docs/VALIDATION.md；指标为会议建议值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01400" y="6464808"/>
            <a:ext cx="457200" cy="256032"/>
          </a:xfrm>
          <a:prstGeom prst="rect">
            <a:avLst/>
          </a:prstGeom>
          <a:noFill/>
        </p:spPr>
        <p:txBody>
          <a:bodyPr wrap="square" lIns="18288" rIns="18288" tIns="13716" bIns="13716" anchor="ctr">
            <a:spAutoFit/>
          </a:bodyPr>
          <a:lstStyle/>
          <a:p>
            <a:pPr algn="r">
              <a:spcAft>
                <a:spcPts val="200"/>
              </a:spcAft>
              <a:defRPr sz="1000" b="1">
                <a:solidFill>
                  <a:srgbClr val="3FD7C0"/>
                </a:solidFill>
                <a:latin typeface="Noto Sans CJK SC"/>
              </a:defRPr>
            </a:pPr>
            <a:r>
              <a:t>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8096" y="1545336"/>
            <a:ext cx="1792224" cy="384048"/>
          </a:xfrm>
          <a:prstGeom prst="rect">
            <a:avLst/>
          </a:prstGeom>
          <a:noFill/>
        </p:spPr>
        <p:txBody>
          <a:bodyPr wrap="square" lIns="18288" rIns="18288" tIns="13716" bIns="13716" anchor="ctr">
            <a:spAutoFit/>
          </a:bodyPr>
          <a:lstStyle/>
          <a:p>
            <a:pPr algn="l">
              <a:spcAft>
                <a:spcPts val="200"/>
              </a:spcAft>
              <a:defRPr sz="1500" b="1">
                <a:solidFill>
                  <a:srgbClr val="3FD7C0"/>
                </a:solidFill>
                <a:latin typeface="Noto Sans CJK SC"/>
              </a:defRPr>
            </a:pPr>
            <a:r>
              <a:t>维度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816352" y="1545336"/>
            <a:ext cx="3648456" cy="384048"/>
          </a:xfrm>
          <a:prstGeom prst="rect">
            <a:avLst/>
          </a:prstGeom>
          <a:noFill/>
        </p:spPr>
        <p:txBody>
          <a:bodyPr wrap="square" lIns="18288" rIns="18288" tIns="13716" bIns="13716" anchor="ctr">
            <a:spAutoFit/>
          </a:bodyPr>
          <a:lstStyle/>
          <a:p>
            <a:pPr algn="l">
              <a:spcAft>
                <a:spcPts val="200"/>
              </a:spcAft>
              <a:defRPr sz="1500" b="1">
                <a:solidFill>
                  <a:srgbClr val="3FD7C0"/>
                </a:solidFill>
                <a:latin typeface="Noto Sans CJK SC"/>
              </a:defRPr>
            </a:pPr>
            <a:r>
              <a:t>当前证据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711696" y="1545336"/>
            <a:ext cx="4773168" cy="384048"/>
          </a:xfrm>
          <a:prstGeom prst="rect">
            <a:avLst/>
          </a:prstGeom>
          <a:noFill/>
        </p:spPr>
        <p:txBody>
          <a:bodyPr wrap="square" lIns="18288" rIns="18288" tIns="13716" bIns="13716" anchor="ctr">
            <a:spAutoFit/>
          </a:bodyPr>
          <a:lstStyle/>
          <a:p>
            <a:pPr algn="l">
              <a:spcAft>
                <a:spcPts val="200"/>
              </a:spcAft>
              <a:defRPr sz="1500" b="1">
                <a:solidFill>
                  <a:srgbClr val="3FD7C0"/>
                </a:solidFill>
                <a:latin typeface="Noto Sans CJK SC"/>
              </a:defRPr>
            </a:pPr>
            <a:r>
              <a:t>建议下一轮验收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" y="2020824"/>
            <a:ext cx="10945368" cy="658368"/>
          </a:xfrm>
          <a:prstGeom prst="roundRect">
            <a:avLst>
              <a:gd name="adj" fmla="val 8000"/>
            </a:avLst>
          </a:prstGeom>
          <a:solidFill>
            <a:srgbClr val="1C32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49808" y="2093976"/>
            <a:ext cx="1783080" cy="475488"/>
          </a:xfrm>
          <a:prstGeom prst="rect">
            <a:avLst/>
          </a:prstGeom>
          <a:noFill/>
        </p:spPr>
        <p:txBody>
          <a:bodyPr wrap="square" lIns="18288" rIns="18288" tIns="13716" bIns="13716" anchor="ctr">
            <a:spAutoFit/>
          </a:bodyPr>
          <a:lstStyle/>
          <a:p>
            <a:pPr algn="l">
              <a:spcAft>
                <a:spcPts val="200"/>
              </a:spcAft>
              <a:defRPr sz="1500" b="1">
                <a:solidFill>
                  <a:srgbClr val="F8FAFA"/>
                </a:solidFill>
                <a:latin typeface="Noto Sans CJK SC"/>
              </a:defRPr>
            </a:pPr>
            <a:r>
              <a:t>软件回归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79776" y="2093976"/>
            <a:ext cx="3639312" cy="475488"/>
          </a:xfrm>
          <a:prstGeom prst="rect">
            <a:avLst/>
          </a:prstGeom>
          <a:noFill/>
        </p:spPr>
        <p:txBody>
          <a:bodyPr wrap="square" lIns="18288" rIns="18288" tIns="13716" bIns="13716" anchor="ctr">
            <a:spAutoFit/>
          </a:bodyPr>
          <a:lstStyle/>
          <a:p>
            <a:pPr algn="l">
              <a:spcAft>
                <a:spcPts val="200"/>
              </a:spcAft>
              <a:defRPr sz="1400" b="0">
                <a:solidFill>
                  <a:srgbClr val="ADBFC9"/>
                </a:solidFill>
                <a:latin typeface="Noto Sans CJK SC"/>
              </a:defRPr>
            </a:pPr>
            <a:r>
              <a:t>63 passed / 1 skipped / 9 subtests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65976" y="2084831"/>
            <a:ext cx="4645152" cy="502920"/>
          </a:xfrm>
          <a:prstGeom prst="rect">
            <a:avLst/>
          </a:prstGeom>
          <a:noFill/>
        </p:spPr>
        <p:txBody>
          <a:bodyPr wrap="square" lIns="18288" rIns="18288" tIns="13716" bIns="13716" anchor="ctr">
            <a:spAutoFit/>
          </a:bodyPr>
          <a:lstStyle/>
          <a:p>
            <a:pPr algn="l">
              <a:spcAft>
                <a:spcPts val="200"/>
              </a:spcAft>
              <a:defRPr sz="1400" b="0">
                <a:solidFill>
                  <a:srgbClr val="F8FAFA"/>
                </a:solidFill>
                <a:latin typeface="Noto Sans CJK SC"/>
              </a:defRPr>
            </a:pPr>
            <a:r>
              <a:t>全量通过 + 故障用例可重现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1792" y="2770632"/>
            <a:ext cx="10945368" cy="658368"/>
          </a:xfrm>
          <a:prstGeom prst="roundRect">
            <a:avLst>
              <a:gd name="adj" fmla="val 8000"/>
            </a:avLst>
          </a:prstGeom>
          <a:solidFill>
            <a:srgbClr val="233A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49808" y="2843784"/>
            <a:ext cx="1783080" cy="475488"/>
          </a:xfrm>
          <a:prstGeom prst="rect">
            <a:avLst/>
          </a:prstGeom>
          <a:noFill/>
        </p:spPr>
        <p:txBody>
          <a:bodyPr wrap="square" lIns="18288" rIns="18288" tIns="13716" bIns="13716" anchor="ctr">
            <a:spAutoFit/>
          </a:bodyPr>
          <a:lstStyle/>
          <a:p>
            <a:pPr algn="l">
              <a:spcAft>
                <a:spcPts val="200"/>
              </a:spcAft>
              <a:defRPr sz="1500" b="1">
                <a:solidFill>
                  <a:srgbClr val="F8FAFA"/>
                </a:solidFill>
                <a:latin typeface="Noto Sans CJK SC"/>
              </a:defRPr>
            </a:pPr>
            <a:r>
              <a:t>模型拆分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779776" y="2843784"/>
            <a:ext cx="3639312" cy="475488"/>
          </a:xfrm>
          <a:prstGeom prst="rect">
            <a:avLst/>
          </a:prstGeom>
          <a:noFill/>
        </p:spPr>
        <p:txBody>
          <a:bodyPr wrap="square" lIns="18288" rIns="18288" tIns="13716" bIns="13716" anchor="ctr">
            <a:spAutoFit/>
          </a:bodyPr>
          <a:lstStyle/>
          <a:p>
            <a:pPr algn="l">
              <a:spcAft>
                <a:spcPts val="200"/>
              </a:spcAft>
              <a:defRPr sz="1400" b="0">
                <a:solidFill>
                  <a:srgbClr val="ADBFC9"/>
                </a:solidFill>
                <a:latin typeface="Noto Sans CJK SC"/>
              </a:defRPr>
            </a:pPr>
            <a:r>
              <a:t>1 个真实两步合法 DAG，未执行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65976" y="2834639"/>
            <a:ext cx="4645152" cy="502920"/>
          </a:xfrm>
          <a:prstGeom prst="rect">
            <a:avLst/>
          </a:prstGeom>
          <a:noFill/>
        </p:spPr>
        <p:txBody>
          <a:bodyPr wrap="square" lIns="18288" rIns="18288" tIns="13716" bIns="13716" anchor="ctr">
            <a:spAutoFit/>
          </a:bodyPr>
          <a:lstStyle/>
          <a:p>
            <a:pPr algn="l">
              <a:spcAft>
                <a:spcPts val="200"/>
              </a:spcAft>
              <a:defRPr sz="1400" b="0">
                <a:solidFill>
                  <a:srgbClr val="F8FAFA"/>
                </a:solidFill>
                <a:latin typeface="Noto Sans CJK SC"/>
              </a:defRPr>
            </a:pPr>
            <a:r>
              <a:t>3 类×10 条目标；分别统计合法/可执行/验证率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1792" y="3520439"/>
            <a:ext cx="10945368" cy="658368"/>
          </a:xfrm>
          <a:prstGeom prst="roundRect">
            <a:avLst>
              <a:gd name="adj" fmla="val 8000"/>
            </a:avLst>
          </a:prstGeom>
          <a:solidFill>
            <a:srgbClr val="1C32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49808" y="3593591"/>
            <a:ext cx="1783080" cy="475488"/>
          </a:xfrm>
          <a:prstGeom prst="rect">
            <a:avLst/>
          </a:prstGeom>
          <a:noFill/>
        </p:spPr>
        <p:txBody>
          <a:bodyPr wrap="square" lIns="18288" rIns="18288" tIns="13716" bIns="13716" anchor="ctr">
            <a:spAutoFit/>
          </a:bodyPr>
          <a:lstStyle/>
          <a:p>
            <a:pPr algn="l">
              <a:spcAft>
                <a:spcPts val="200"/>
              </a:spcAft>
              <a:defRPr sz="1500" b="1">
                <a:solidFill>
                  <a:srgbClr val="F8FAFA"/>
                </a:solidFill>
                <a:latin typeface="Noto Sans CJK SC"/>
              </a:defRPr>
            </a:pPr>
            <a:r>
              <a:t>恢复/资源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779776" y="3593591"/>
            <a:ext cx="3639312" cy="475488"/>
          </a:xfrm>
          <a:prstGeom prst="rect">
            <a:avLst/>
          </a:prstGeom>
          <a:noFill/>
        </p:spPr>
        <p:txBody>
          <a:bodyPr wrap="square" lIns="18288" rIns="18288" tIns="13716" bIns="13716" anchor="ctr">
            <a:spAutoFit/>
          </a:bodyPr>
          <a:lstStyle/>
          <a:p>
            <a:pPr algn="l">
              <a:spcAft>
                <a:spcPts val="200"/>
              </a:spcAft>
              <a:defRPr sz="1400" b="0">
                <a:solidFill>
                  <a:srgbClr val="ADBFC9"/>
                </a:solidFill>
                <a:latin typeface="Noto Sans CJK SC"/>
              </a:defRPr>
            </a:pPr>
            <a:r>
              <a:t>同一 ID 恢复；unknown 不释放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65976" y="3584447"/>
            <a:ext cx="4645152" cy="502920"/>
          </a:xfrm>
          <a:prstGeom prst="rect">
            <a:avLst/>
          </a:prstGeom>
          <a:noFill/>
        </p:spPr>
        <p:txBody>
          <a:bodyPr wrap="square" lIns="18288" rIns="18288" tIns="13716" bIns="13716" anchor="ctr">
            <a:spAutoFit/>
          </a:bodyPr>
          <a:lstStyle/>
          <a:p>
            <a:pPr algn="l">
              <a:spcAft>
                <a:spcPts val="200"/>
              </a:spcAft>
              <a:defRPr sz="1400" b="0">
                <a:solidFill>
                  <a:srgbClr val="F8FAFA"/>
                </a:solidFill>
                <a:latin typeface="Noto Sans CJK SC"/>
              </a:defRPr>
            </a:pPr>
            <a:r>
              <a:t>测试矩阵中重复副作用 0、资源早释 0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21792" y="4270248"/>
            <a:ext cx="10945368" cy="658368"/>
          </a:xfrm>
          <a:prstGeom prst="roundRect">
            <a:avLst>
              <a:gd name="adj" fmla="val 8000"/>
            </a:avLst>
          </a:prstGeom>
          <a:solidFill>
            <a:srgbClr val="233A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49808" y="4343400"/>
            <a:ext cx="1783080" cy="475488"/>
          </a:xfrm>
          <a:prstGeom prst="rect">
            <a:avLst/>
          </a:prstGeom>
          <a:noFill/>
        </p:spPr>
        <p:txBody>
          <a:bodyPr wrap="square" lIns="18288" rIns="18288" tIns="13716" bIns="13716" anchor="ctr">
            <a:spAutoFit/>
          </a:bodyPr>
          <a:lstStyle/>
          <a:p>
            <a:pPr algn="l">
              <a:spcAft>
                <a:spcPts val="200"/>
              </a:spcAft>
              <a:defRPr sz="1500" b="1">
                <a:solidFill>
                  <a:srgbClr val="F8FAFA"/>
                </a:solidFill>
                <a:latin typeface="Noto Sans CJK SC"/>
              </a:defRPr>
            </a:pPr>
            <a:r>
              <a:t>控制权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779776" y="4343400"/>
            <a:ext cx="3639312" cy="475488"/>
          </a:xfrm>
          <a:prstGeom prst="rect">
            <a:avLst/>
          </a:prstGeom>
          <a:noFill/>
        </p:spPr>
        <p:txBody>
          <a:bodyPr wrap="square" lIns="18288" rIns="18288" tIns="13716" bIns="13716" anchor="ctr">
            <a:spAutoFit/>
          </a:bodyPr>
          <a:lstStyle/>
          <a:p>
            <a:pPr algn="l">
              <a:spcAft>
                <a:spcPts val="200"/>
              </a:spcAft>
              <a:defRPr sz="1400" b="0">
                <a:solidFill>
                  <a:srgbClr val="ADBFC9"/>
                </a:solidFill>
                <a:latin typeface="Noto Sans CJK SC"/>
              </a:defRPr>
            </a:pPr>
            <a:r>
              <a:t>账本 generation 已有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665976" y="4334256"/>
            <a:ext cx="4645152" cy="502920"/>
          </a:xfrm>
          <a:prstGeom prst="rect">
            <a:avLst/>
          </a:prstGeom>
          <a:noFill/>
        </p:spPr>
        <p:txBody>
          <a:bodyPr wrap="square" lIns="18288" rIns="18288" tIns="13716" bIns="13716" anchor="ctr">
            <a:spAutoFit/>
          </a:bodyPr>
          <a:lstStyle/>
          <a:p>
            <a:pPr algn="l">
              <a:spcAft>
                <a:spcPts val="200"/>
              </a:spcAft>
              <a:defRPr sz="1400" b="0">
                <a:solidFill>
                  <a:srgbClr val="F8FAFA"/>
                </a:solidFill>
                <a:latin typeface="Noto Sans CJK SC"/>
              </a:defRPr>
            </a:pPr>
            <a:r>
              <a:t>旧 token 副作用接受数 0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21792" y="5020056"/>
            <a:ext cx="10945368" cy="658368"/>
          </a:xfrm>
          <a:prstGeom prst="roundRect">
            <a:avLst>
              <a:gd name="adj" fmla="val 8000"/>
            </a:avLst>
          </a:prstGeom>
          <a:solidFill>
            <a:srgbClr val="1C32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49808" y="5093208"/>
            <a:ext cx="1783080" cy="475488"/>
          </a:xfrm>
          <a:prstGeom prst="rect">
            <a:avLst/>
          </a:prstGeom>
          <a:noFill/>
        </p:spPr>
        <p:txBody>
          <a:bodyPr wrap="square" lIns="18288" rIns="18288" tIns="13716" bIns="13716" anchor="ctr">
            <a:spAutoFit/>
          </a:bodyPr>
          <a:lstStyle/>
          <a:p>
            <a:pPr algn="l">
              <a:spcAft>
                <a:spcPts val="200"/>
              </a:spcAft>
              <a:defRPr sz="1500" b="1">
                <a:solidFill>
                  <a:srgbClr val="F8FAFA"/>
                </a:solidFill>
                <a:latin typeface="Noto Sans CJK SC"/>
              </a:defRPr>
            </a:pPr>
            <a:r>
              <a:t>真机完成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779776" y="5093208"/>
            <a:ext cx="3639312" cy="475488"/>
          </a:xfrm>
          <a:prstGeom prst="rect">
            <a:avLst/>
          </a:prstGeom>
          <a:noFill/>
        </p:spPr>
        <p:txBody>
          <a:bodyPr wrap="square" lIns="18288" rIns="18288" tIns="13716" bIns="13716" anchor="ctr">
            <a:spAutoFit/>
          </a:bodyPr>
          <a:lstStyle/>
          <a:p>
            <a:pPr algn="l">
              <a:spcAft>
                <a:spcPts val="200"/>
              </a:spcAft>
              <a:defRPr sz="1400" b="0">
                <a:solidFill>
                  <a:srgbClr val="ADBFC9"/>
                </a:solidFill>
                <a:latin typeface="Noto Sans CJK SC"/>
              </a:defRPr>
            </a:pPr>
            <a:r>
              <a:t>暂无机器人端到端证据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665976" y="5084064"/>
            <a:ext cx="4645152" cy="502920"/>
          </a:xfrm>
          <a:prstGeom prst="rect">
            <a:avLst/>
          </a:prstGeom>
          <a:noFill/>
        </p:spPr>
        <p:txBody>
          <a:bodyPr wrap="square" lIns="18288" rIns="18288" tIns="13716" bIns="13716" anchor="ctr">
            <a:spAutoFit/>
          </a:bodyPr>
          <a:lstStyle/>
          <a:p>
            <a:pPr algn="l">
              <a:spcAft>
                <a:spcPts val="200"/>
              </a:spcAft>
              <a:defRPr sz="1400" b="0">
                <a:solidFill>
                  <a:srgbClr val="F8FAFA"/>
                </a:solidFill>
                <a:latin typeface="Noto Sans CJK SC"/>
              </a:defRPr>
            </a:pPr>
            <a:r>
              <a:t>阶段 2：至少 1 项技能的完整纵向切片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58368" y="5989320"/>
            <a:ext cx="10735056" cy="320040"/>
          </a:xfrm>
          <a:prstGeom prst="rect">
            <a:avLst/>
          </a:prstGeom>
          <a:noFill/>
        </p:spPr>
        <p:txBody>
          <a:bodyPr wrap="square" lIns="18288" rIns="18288" tIns="13716" bIns="13716" anchor="ctr">
            <a:spAutoFit/>
          </a:bodyPr>
          <a:lstStyle/>
          <a:p>
            <a:pPr algn="l">
              <a:spcAft>
                <a:spcPts val="200"/>
              </a:spcAft>
              <a:defRPr sz="1300" b="0">
                <a:solidFill>
                  <a:srgbClr val="F6C25D"/>
                </a:solidFill>
                <a:latin typeface="Noto Sans CJK SC"/>
              </a:defRPr>
            </a:pPr>
            <a:r>
              <a:t>建议数值只定义测试集/故障矩阵的通过门槛，不代表现场可靠性已测得。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E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3FD7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19456"/>
            <a:ext cx="9601200" cy="237744"/>
          </a:xfrm>
          <a:prstGeom prst="rect">
            <a:avLst/>
          </a:prstGeom>
          <a:noFill/>
        </p:spPr>
        <p:txBody>
          <a:bodyPr wrap="square" lIns="18288" rIns="18288" tIns="13716" bIns="13716" anchor="ctr">
            <a:spAutoFit/>
          </a:bodyPr>
          <a:lstStyle/>
          <a:p>
            <a:pPr algn="l">
              <a:spcAft>
                <a:spcPts val="200"/>
              </a:spcAft>
              <a:defRPr sz="1000" b="1">
                <a:solidFill>
                  <a:srgbClr val="3FD7C0"/>
                </a:solidFill>
                <a:latin typeface="Noto Sans CJK SC"/>
              </a:defRPr>
            </a:pPr>
            <a:r>
              <a:t>10 / 个人工作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76072"/>
            <a:ext cx="11109960" cy="530352"/>
          </a:xfrm>
          <a:prstGeom prst="rect">
            <a:avLst/>
          </a:prstGeom>
          <a:noFill/>
        </p:spPr>
        <p:txBody>
          <a:bodyPr wrap="square" lIns="18288" rIns="18288" tIns="13716" bIns="13716" anchor="ctr">
            <a:spAutoFit/>
          </a:bodyPr>
          <a:lstStyle/>
          <a:p>
            <a:pPr algn="l">
              <a:spcAft>
                <a:spcPts val="200"/>
              </a:spcAft>
              <a:defRPr sz="2600" b="1">
                <a:solidFill>
                  <a:srgbClr val="F8FAFA"/>
                </a:solidFill>
                <a:latin typeface="Noto Sans CJK SC"/>
              </a:defRPr>
            </a:pPr>
            <a:r>
              <a:t>我的建议主责：计划契约、执行权威、证据链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457200" y="1216152"/>
            <a:ext cx="11274552" cy="0"/>
          </a:xfrm>
          <a:prstGeom prst="line">
            <a:avLst/>
          </a:prstGeom>
          <a:ln w="12700">
            <a:solidFill>
              <a:srgbClr val="3A4F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457200" y="6510528"/>
            <a:ext cx="10789920" cy="192024"/>
          </a:xfrm>
          <a:prstGeom prst="rect">
            <a:avLst/>
          </a:prstGeom>
          <a:noFill/>
        </p:spPr>
        <p:txBody>
          <a:bodyPr wrap="square" lIns="18288" rIns="18288" tIns="13716" bIns="13716" anchor="ctr">
            <a:spAutoFit/>
          </a:bodyPr>
          <a:lstStyle/>
          <a:p>
            <a:pPr algn="l">
              <a:spcAft>
                <a:spcPts val="200"/>
              </a:spcAft>
              <a:defRPr sz="800" b="0">
                <a:solidFill>
                  <a:srgbClr val="ADBFC9"/>
                </a:solidFill>
                <a:latin typeface="Noto Sans CJK SC"/>
              </a:defRPr>
            </a:pPr>
            <a:r>
              <a:t>本页为会议建议分工，需与机器人控制、安全和场景负责人确认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01400" y="6464808"/>
            <a:ext cx="457200" cy="256032"/>
          </a:xfrm>
          <a:prstGeom prst="rect">
            <a:avLst/>
          </a:prstGeom>
          <a:noFill/>
        </p:spPr>
        <p:txBody>
          <a:bodyPr wrap="square" lIns="18288" rIns="18288" tIns="13716" bIns="13716" anchor="ctr">
            <a:spAutoFit/>
          </a:bodyPr>
          <a:lstStyle/>
          <a:p>
            <a:pPr algn="r">
              <a:spcAft>
                <a:spcPts val="200"/>
              </a:spcAft>
              <a:defRPr sz="1000" b="1">
                <a:solidFill>
                  <a:srgbClr val="3FD7C0"/>
                </a:solidFill>
                <a:latin typeface="Noto Sans CJK SC"/>
              </a:defRPr>
            </a:pPr>
            <a:r>
              <a:t>11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1490472"/>
            <a:ext cx="5413248" cy="1993392"/>
          </a:xfrm>
          <a:prstGeom prst="roundRect">
            <a:avLst>
              <a:gd name="adj" fmla="val 8000"/>
            </a:avLst>
          </a:prstGeom>
          <a:solidFill>
            <a:srgbClr val="1C32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04088" y="1655063"/>
            <a:ext cx="54864" cy="347472"/>
          </a:xfrm>
          <a:prstGeom prst="rect">
            <a:avLst/>
          </a:prstGeom>
          <a:solidFill>
            <a:srgbClr val="3FD7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50392" y="1627631"/>
            <a:ext cx="4974336" cy="420624"/>
          </a:xfrm>
          <a:prstGeom prst="rect">
            <a:avLst/>
          </a:prstGeom>
          <a:noFill/>
        </p:spPr>
        <p:txBody>
          <a:bodyPr wrap="square" lIns="18288" rIns="18288" tIns="13716" bIns="13716" anchor="ctr">
            <a:spAutoFit/>
          </a:bodyPr>
          <a:lstStyle/>
          <a:p>
            <a:pPr algn="l">
              <a:spcAft>
                <a:spcPts val="200"/>
              </a:spcAft>
              <a:defRPr sz="1700" b="1">
                <a:solidFill>
                  <a:srgbClr val="F8FAFA"/>
                </a:solidFill>
                <a:latin typeface="Noto Sans CJK SC"/>
              </a:defRPr>
            </a:pPr>
            <a:r>
              <a:t>P0｜任务拆分契约与评测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8096" y="2157984"/>
            <a:ext cx="5010912" cy="1179576"/>
          </a:xfrm>
          <a:prstGeom prst="rect">
            <a:avLst/>
          </a:prstGeom>
          <a:noFill/>
        </p:spPr>
        <p:txBody>
          <a:bodyPr wrap="square" lIns="18288" rIns="18288" tIns="13716" bIns="13716" anchor="t">
            <a:spAutoFit/>
          </a:bodyPr>
          <a:lstStyle/>
          <a:p>
            <a:pPr algn="l">
              <a:spcAft>
                <a:spcPts val="200"/>
              </a:spcAft>
              <a:defRPr sz="1600" b="0">
                <a:solidFill>
                  <a:srgbClr val="ADBFC9"/>
                </a:solidFill>
                <a:latin typeface="Noto Sans CJK SC"/>
              </a:defRPr>
            </a:pPr>
            <a:r>
              <a:t>固化 Goal→Context→Plan；建 3 类×10 条目标集；记录每次原始响应、拒绝原因和分项统计。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99632" y="1490472"/>
            <a:ext cx="5413248" cy="1993392"/>
          </a:xfrm>
          <a:prstGeom prst="roundRect">
            <a:avLst>
              <a:gd name="adj" fmla="val 8000"/>
            </a:avLst>
          </a:prstGeom>
          <a:solidFill>
            <a:srgbClr val="1C32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336792" y="1655063"/>
            <a:ext cx="54864" cy="347472"/>
          </a:xfrm>
          <a:prstGeom prst="rect">
            <a:avLst/>
          </a:prstGeom>
          <a:solidFill>
            <a:srgbClr val="F6C2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83096" y="1627631"/>
            <a:ext cx="4974336" cy="420624"/>
          </a:xfrm>
          <a:prstGeom prst="rect">
            <a:avLst/>
          </a:prstGeom>
          <a:noFill/>
        </p:spPr>
        <p:txBody>
          <a:bodyPr wrap="square" lIns="18288" rIns="18288" tIns="13716" bIns="13716" anchor="ctr">
            <a:spAutoFit/>
          </a:bodyPr>
          <a:lstStyle/>
          <a:p>
            <a:pPr algn="l">
              <a:spcAft>
                <a:spcPts val="200"/>
              </a:spcAft>
              <a:defRPr sz="1700" b="1">
                <a:solidFill>
                  <a:srgbClr val="F8FAFA"/>
                </a:solidFill>
                <a:latin typeface="Noto Sans CJK SC"/>
              </a:defRPr>
            </a:pPr>
            <a:r>
              <a:t>P0｜阶段 1 控制权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2157984"/>
            <a:ext cx="5010912" cy="1179576"/>
          </a:xfrm>
          <a:prstGeom prst="rect">
            <a:avLst/>
          </a:prstGeom>
          <a:noFill/>
        </p:spPr>
        <p:txBody>
          <a:bodyPr wrap="square" lIns="18288" rIns="18288" tIns="13716" bIns="13716" anchor="t">
            <a:spAutoFit/>
          </a:bodyPr>
          <a:lstStyle/>
          <a:p>
            <a:pPr algn="l">
              <a:spcAft>
                <a:spcPts val="200"/>
              </a:spcAft>
              <a:defRPr sz="1600" b="0">
                <a:solidFill>
                  <a:srgbClr val="ADBFC9"/>
                </a:solidFill>
                <a:latin typeface="Noto Sans CJK SC"/>
              </a:defRPr>
            </a:pPr>
            <a:r>
              <a:t>实现 token/执行记录/协议校验；覆盖重启、取消竞争、旧执行者和资源早释故障矩阵。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685032"/>
            <a:ext cx="5413248" cy="1993392"/>
          </a:xfrm>
          <a:prstGeom prst="roundRect">
            <a:avLst>
              <a:gd name="adj" fmla="val 8000"/>
            </a:avLst>
          </a:prstGeom>
          <a:solidFill>
            <a:srgbClr val="1C32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04088" y="3849624"/>
            <a:ext cx="54864" cy="347472"/>
          </a:xfrm>
          <a:prstGeom prst="rect">
            <a:avLst/>
          </a:prstGeom>
          <a:solidFill>
            <a:srgbClr val="87B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50392" y="3822192"/>
            <a:ext cx="4974336" cy="420624"/>
          </a:xfrm>
          <a:prstGeom prst="rect">
            <a:avLst/>
          </a:prstGeom>
          <a:noFill/>
        </p:spPr>
        <p:txBody>
          <a:bodyPr wrap="square" lIns="18288" rIns="18288" tIns="13716" bIns="13716" anchor="ctr">
            <a:spAutoFit/>
          </a:bodyPr>
          <a:lstStyle/>
          <a:p>
            <a:pPr algn="l">
              <a:spcAft>
                <a:spcPts val="200"/>
              </a:spcAft>
              <a:defRPr sz="1700" b="1">
                <a:solidFill>
                  <a:srgbClr val="F8FAFA"/>
                </a:solidFill>
                <a:latin typeface="Noto Sans CJK SC"/>
              </a:defRPr>
            </a:pPr>
            <a:r>
              <a:t>P1｜真实技能纵向切片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68096" y="4352544"/>
            <a:ext cx="5010912" cy="1179576"/>
          </a:xfrm>
          <a:prstGeom prst="rect">
            <a:avLst/>
          </a:prstGeom>
          <a:noFill/>
        </p:spPr>
        <p:txBody>
          <a:bodyPr wrap="square" lIns="18288" rIns="18288" tIns="13716" bIns="13716" anchor="t">
            <a:spAutoFit/>
          </a:bodyPr>
          <a:lstStyle/>
          <a:p>
            <a:pPr algn="l">
              <a:spcAft>
                <a:spcPts val="200"/>
              </a:spcAft>
              <a:defRPr sz="1600" b="0">
                <a:solidFill>
                  <a:srgbClr val="ADBFC9"/>
                </a:solidFill>
                <a:latin typeface="Noto Sans CJK SC"/>
              </a:defRPr>
            </a:pPr>
            <a:r>
              <a:t>与机器人同事定义 1 项技能的 execute/query/cancel、schema、资源、停止回执和 verifier。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99632" y="3685032"/>
            <a:ext cx="5413248" cy="1993392"/>
          </a:xfrm>
          <a:prstGeom prst="roundRect">
            <a:avLst>
              <a:gd name="adj" fmla="val 8000"/>
            </a:avLst>
          </a:prstGeom>
          <a:solidFill>
            <a:srgbClr val="1C32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336792" y="3849624"/>
            <a:ext cx="54864" cy="347472"/>
          </a:xfrm>
          <a:prstGeom prst="rect">
            <a:avLst/>
          </a:prstGeom>
          <a:solidFill>
            <a:srgbClr val="F57D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83096" y="3822192"/>
            <a:ext cx="4974336" cy="420624"/>
          </a:xfrm>
          <a:prstGeom prst="rect">
            <a:avLst/>
          </a:prstGeom>
          <a:noFill/>
        </p:spPr>
        <p:txBody>
          <a:bodyPr wrap="square" lIns="18288" rIns="18288" tIns="13716" bIns="13716" anchor="ctr">
            <a:spAutoFit/>
          </a:bodyPr>
          <a:lstStyle/>
          <a:p>
            <a:pPr algn="l">
              <a:spcAft>
                <a:spcPts val="200"/>
              </a:spcAft>
              <a:defRPr sz="1700" b="1">
                <a:solidFill>
                  <a:srgbClr val="F8FAFA"/>
                </a:solidFill>
                <a:latin typeface="Noto Sans CJK SC"/>
              </a:defRPr>
            </a:pPr>
            <a:r>
              <a:t>P1｜证据与演示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0" y="4352544"/>
            <a:ext cx="5010912" cy="1179576"/>
          </a:xfrm>
          <a:prstGeom prst="rect">
            <a:avLst/>
          </a:prstGeom>
          <a:noFill/>
        </p:spPr>
        <p:txBody>
          <a:bodyPr wrap="square" lIns="18288" rIns="18288" tIns="13716" bIns="13716" anchor="t">
            <a:spAutoFit/>
          </a:bodyPr>
          <a:lstStyle/>
          <a:p>
            <a:pPr algn="l">
              <a:spcAft>
                <a:spcPts val="200"/>
              </a:spcAft>
              <a:defRPr sz="1600" b="0">
                <a:solidFill>
                  <a:srgbClr val="ADBFC9"/>
                </a:solidFill>
                <a:latin typeface="Noto Sans CJK SC"/>
              </a:defRPr>
            </a:pPr>
            <a:r>
              <a:t>维护状态和验证记录；演示从目标到计划、execution ID、实际结果和证据来源的追溯。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E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3FD7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19456"/>
            <a:ext cx="9601200" cy="237744"/>
          </a:xfrm>
          <a:prstGeom prst="rect">
            <a:avLst/>
          </a:prstGeom>
          <a:noFill/>
        </p:spPr>
        <p:txBody>
          <a:bodyPr wrap="square" lIns="18288" rIns="18288" tIns="13716" bIns="13716" anchor="ctr">
            <a:spAutoFit/>
          </a:bodyPr>
          <a:lstStyle/>
          <a:p>
            <a:pPr algn="l">
              <a:spcAft>
                <a:spcPts val="200"/>
              </a:spcAft>
              <a:defRPr sz="1000" b="1">
                <a:solidFill>
                  <a:srgbClr val="3FD7C0"/>
                </a:solidFill>
                <a:latin typeface="Noto Sans CJK SC"/>
              </a:defRPr>
            </a:pPr>
            <a:r>
              <a:t>11 / 讨论与决策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76072"/>
            <a:ext cx="11109960" cy="530352"/>
          </a:xfrm>
          <a:prstGeom prst="rect">
            <a:avLst/>
          </a:prstGeom>
          <a:noFill/>
        </p:spPr>
        <p:txBody>
          <a:bodyPr wrap="square" lIns="18288" rIns="18288" tIns="13716" bIns="13716" anchor="ctr">
            <a:spAutoFit/>
          </a:bodyPr>
          <a:lstStyle/>
          <a:p>
            <a:pPr algn="l">
              <a:spcAft>
                <a:spcPts val="200"/>
              </a:spcAft>
              <a:defRPr sz="2600" b="1">
                <a:solidFill>
                  <a:srgbClr val="F8FAFA"/>
                </a:solidFill>
                <a:latin typeface="Noto Sans CJK SC"/>
              </a:defRPr>
            </a:pPr>
            <a:r>
              <a:t>这次会议希望确认的三件事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457200" y="1216152"/>
            <a:ext cx="11274552" cy="0"/>
          </a:xfrm>
          <a:prstGeom prst="line">
            <a:avLst/>
          </a:prstGeom>
          <a:ln w="12700">
            <a:solidFill>
              <a:srgbClr val="3A4F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457200" y="6510528"/>
            <a:ext cx="10789920" cy="192024"/>
          </a:xfrm>
          <a:prstGeom prst="rect">
            <a:avLst/>
          </a:prstGeom>
          <a:noFill/>
        </p:spPr>
        <p:txBody>
          <a:bodyPr wrap="square" lIns="18288" rIns="18288" tIns="13716" bIns="13716" anchor="ctr">
            <a:spAutoFit/>
          </a:bodyPr>
          <a:lstStyle/>
          <a:p>
            <a:pPr algn="l">
              <a:spcAft>
                <a:spcPts val="200"/>
              </a:spcAft>
              <a:defRPr sz="800" b="0">
                <a:solidFill>
                  <a:srgbClr val="ADBFC9"/>
                </a:solidFill>
                <a:latin typeface="Noto Sans CJK SC"/>
              </a:defRPr>
            </a:pPr>
            <a:r>
              <a:t>依据：docs/OPEN_QUESTIONS.md；docs/BUILD_ROADMAP.md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01400" y="6464808"/>
            <a:ext cx="457200" cy="256032"/>
          </a:xfrm>
          <a:prstGeom prst="rect">
            <a:avLst/>
          </a:prstGeom>
          <a:noFill/>
        </p:spPr>
        <p:txBody>
          <a:bodyPr wrap="square" lIns="18288" rIns="18288" tIns="13716" bIns="13716" anchor="ctr">
            <a:spAutoFit/>
          </a:bodyPr>
          <a:lstStyle/>
          <a:p>
            <a:pPr algn="r">
              <a:spcAft>
                <a:spcPts val="200"/>
              </a:spcAft>
              <a:defRPr sz="1000" b="1">
                <a:solidFill>
                  <a:srgbClr val="3FD7C0"/>
                </a:solidFill>
                <a:latin typeface="Noto Sans CJK SC"/>
              </a:defRPr>
            </a:pPr>
            <a:r>
              <a:t>12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1609344"/>
            <a:ext cx="3538728" cy="3410712"/>
          </a:xfrm>
          <a:prstGeom prst="roundRect">
            <a:avLst>
              <a:gd name="adj" fmla="val 8000"/>
            </a:avLst>
          </a:prstGeom>
          <a:solidFill>
            <a:srgbClr val="1C32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31520" y="1773936"/>
            <a:ext cx="54864" cy="347472"/>
          </a:xfrm>
          <a:prstGeom prst="rect">
            <a:avLst/>
          </a:prstGeom>
          <a:solidFill>
            <a:srgbClr val="3FD7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77824" y="1746504"/>
            <a:ext cx="3099816" cy="420624"/>
          </a:xfrm>
          <a:prstGeom prst="rect">
            <a:avLst/>
          </a:prstGeom>
          <a:noFill/>
        </p:spPr>
        <p:txBody>
          <a:bodyPr wrap="square" lIns="18288" rIns="18288" tIns="13716" bIns="13716" anchor="ctr">
            <a:spAutoFit/>
          </a:bodyPr>
          <a:lstStyle/>
          <a:p>
            <a:pPr algn="l">
              <a:spcAft>
                <a:spcPts val="200"/>
              </a:spcAft>
              <a:defRPr sz="1800" b="1">
                <a:solidFill>
                  <a:srgbClr val="F8FAFA"/>
                </a:solidFill>
                <a:latin typeface="Noto Sans CJK SC"/>
              </a:defRPr>
            </a:pPr>
            <a:r>
              <a:t>01｜第一批机器人技能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5528" y="2276856"/>
            <a:ext cx="3136392" cy="2596896"/>
          </a:xfrm>
          <a:prstGeom prst="rect">
            <a:avLst/>
          </a:prstGeom>
          <a:noFill/>
        </p:spPr>
        <p:txBody>
          <a:bodyPr wrap="square" lIns="18288" rIns="18288" tIns="13716" bIns="13716" anchor="t">
            <a:spAutoFit/>
          </a:bodyPr>
          <a:lstStyle/>
          <a:p>
            <a:pPr algn="l">
              <a:spcAft>
                <a:spcPts val="200"/>
              </a:spcAft>
              <a:defRPr sz="1900" b="0">
                <a:solidFill>
                  <a:srgbClr val="ADBFC9"/>
                </a:solidFill>
                <a:latin typeface="Noto Sans CJK SC"/>
              </a:defRPr>
            </a:pPr>
            <a:r>
              <a:t>选哪一个任务作为低风险纵向切片？谁提供 ROS2/Unitree 执行、查询、取消和独立观测？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25112" y="1609344"/>
            <a:ext cx="3538728" cy="3410712"/>
          </a:xfrm>
          <a:prstGeom prst="roundRect">
            <a:avLst>
              <a:gd name="adj" fmla="val 8000"/>
            </a:avLst>
          </a:prstGeom>
          <a:solidFill>
            <a:srgbClr val="1C32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462272" y="1773936"/>
            <a:ext cx="54864" cy="347472"/>
          </a:xfrm>
          <a:prstGeom prst="rect">
            <a:avLst/>
          </a:prstGeom>
          <a:solidFill>
            <a:srgbClr val="F6C2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608576" y="1746504"/>
            <a:ext cx="3099816" cy="420624"/>
          </a:xfrm>
          <a:prstGeom prst="rect">
            <a:avLst/>
          </a:prstGeom>
          <a:noFill/>
        </p:spPr>
        <p:txBody>
          <a:bodyPr wrap="square" lIns="18288" rIns="18288" tIns="13716" bIns="13716" anchor="ctr">
            <a:spAutoFit/>
          </a:bodyPr>
          <a:lstStyle/>
          <a:p>
            <a:pPr algn="l">
              <a:spcAft>
                <a:spcPts val="200"/>
              </a:spcAft>
              <a:defRPr sz="1800" b="1">
                <a:solidFill>
                  <a:srgbClr val="F8FAFA"/>
                </a:solidFill>
                <a:latin typeface="Noto Sans CJK SC"/>
              </a:defRPr>
            </a:pPr>
            <a:r>
              <a:t>02｜控制端接口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26280" y="2276856"/>
            <a:ext cx="3136392" cy="2596896"/>
          </a:xfrm>
          <a:prstGeom prst="rect">
            <a:avLst/>
          </a:prstGeom>
          <a:noFill/>
        </p:spPr>
        <p:txBody>
          <a:bodyPr wrap="square" lIns="18288" rIns="18288" tIns="13716" bIns="13716" anchor="t">
            <a:spAutoFit/>
          </a:bodyPr>
          <a:lstStyle/>
          <a:p>
            <a:pPr algn="l">
              <a:spcAft>
                <a:spcPts val="200"/>
              </a:spcAft>
              <a:defRPr sz="1900" b="0">
                <a:solidFill>
                  <a:srgbClr val="ADBFC9"/>
                </a:solidFill>
                <a:latin typeface="Noto Sans CJK SC"/>
              </a:defRPr>
            </a:pPr>
            <a:r>
              <a:t>控制器能否校验 fencing token 并返回真实停止回执？失败和 unknown 由谁确认？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55864" y="1609344"/>
            <a:ext cx="3538728" cy="3410712"/>
          </a:xfrm>
          <a:prstGeom prst="roundRect">
            <a:avLst>
              <a:gd name="adj" fmla="val 8000"/>
            </a:avLst>
          </a:prstGeom>
          <a:solidFill>
            <a:srgbClr val="1C32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193024" y="1773936"/>
            <a:ext cx="54864" cy="347472"/>
          </a:xfrm>
          <a:prstGeom prst="rect">
            <a:avLst/>
          </a:prstGeom>
          <a:solidFill>
            <a:srgbClr val="87B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39328" y="1746504"/>
            <a:ext cx="3099816" cy="420624"/>
          </a:xfrm>
          <a:prstGeom prst="rect">
            <a:avLst/>
          </a:prstGeom>
          <a:noFill/>
        </p:spPr>
        <p:txBody>
          <a:bodyPr wrap="square" lIns="18288" rIns="18288" tIns="13716" bIns="13716" anchor="ctr">
            <a:spAutoFit/>
          </a:bodyPr>
          <a:lstStyle/>
          <a:p>
            <a:pPr algn="l">
              <a:spcAft>
                <a:spcPts val="200"/>
              </a:spcAft>
              <a:defRPr sz="1800" b="1">
                <a:solidFill>
                  <a:srgbClr val="F8FAFA"/>
                </a:solidFill>
                <a:latin typeface="Noto Sans CJK SC"/>
              </a:defRPr>
            </a:pPr>
            <a:r>
              <a:t>03｜任务评测口径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57032" y="2276856"/>
            <a:ext cx="3136392" cy="2596896"/>
          </a:xfrm>
          <a:prstGeom prst="rect">
            <a:avLst/>
          </a:prstGeom>
          <a:noFill/>
        </p:spPr>
        <p:txBody>
          <a:bodyPr wrap="square" lIns="18288" rIns="18288" tIns="13716" bIns="13716" anchor="t">
            <a:spAutoFit/>
          </a:bodyPr>
          <a:lstStyle/>
          <a:p>
            <a:pPr algn="l">
              <a:spcAft>
                <a:spcPts val="200"/>
              </a:spcAft>
              <a:defRPr sz="1900" b="0">
                <a:solidFill>
                  <a:srgbClr val="ADBFC9"/>
                </a:solidFill>
                <a:latin typeface="Noto Sans CJK SC"/>
              </a:defRPr>
            </a:pPr>
            <a:r>
              <a:t>先评哪 3 类目标？合法计划、可执行计划、最终完成分别以什么证据为准？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94360" y="5285232"/>
            <a:ext cx="11000232" cy="640080"/>
          </a:xfrm>
          <a:prstGeom prst="roundRect">
            <a:avLst>
              <a:gd name="adj" fmla="val 8000"/>
            </a:avLst>
          </a:prstGeom>
          <a:solidFill>
            <a:srgbClr val="192C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32104" y="5404104"/>
            <a:ext cx="10460736" cy="393192"/>
          </a:xfrm>
          <a:prstGeom prst="rect">
            <a:avLst/>
          </a:prstGeom>
          <a:noFill/>
        </p:spPr>
        <p:txBody>
          <a:bodyPr wrap="square" lIns="18288" rIns="18288" tIns="13716" bIns="13716" anchor="ctr">
            <a:spAutoFit/>
          </a:bodyPr>
          <a:lstStyle/>
          <a:p>
            <a:pPr algn="l">
              <a:spcAft>
                <a:spcPts val="200"/>
              </a:spcAft>
              <a:defRPr sz="1900" b="1">
                <a:solidFill>
                  <a:srgbClr val="F8FAFA"/>
                </a:solidFill>
                <a:latin typeface="Noto Sans CJK SC"/>
              </a:defRPr>
            </a:pPr>
            <a:r>
              <a:t>下一步：先关住旧执行者，再扩大自主规划与真机任务范围。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E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3FD7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19456"/>
            <a:ext cx="9601200" cy="237744"/>
          </a:xfrm>
          <a:prstGeom prst="rect">
            <a:avLst/>
          </a:prstGeom>
          <a:noFill/>
        </p:spPr>
        <p:txBody>
          <a:bodyPr wrap="square" lIns="18288" rIns="18288" tIns="13716" bIns="13716" anchor="ctr">
            <a:spAutoFit/>
          </a:bodyPr>
          <a:lstStyle/>
          <a:p>
            <a:pPr algn="l">
              <a:spcAft>
                <a:spcPts val="200"/>
              </a:spcAft>
              <a:defRPr sz="1000" b="1">
                <a:solidFill>
                  <a:srgbClr val="3FD7C0"/>
                </a:solidFill>
                <a:latin typeface="Noto Sans CJK SC"/>
              </a:defRPr>
            </a:pPr>
            <a:r>
              <a:t>附录 / 证据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76072"/>
            <a:ext cx="11109960" cy="530352"/>
          </a:xfrm>
          <a:prstGeom prst="rect">
            <a:avLst/>
          </a:prstGeom>
          <a:noFill/>
        </p:spPr>
        <p:txBody>
          <a:bodyPr wrap="square" lIns="18288" rIns="18288" tIns="13716" bIns="13716" anchor="ctr">
            <a:spAutoFit/>
          </a:bodyPr>
          <a:lstStyle/>
          <a:p>
            <a:pPr algn="l">
              <a:spcAft>
                <a:spcPts val="200"/>
              </a:spcAft>
              <a:defRPr sz="2600" b="1">
                <a:solidFill>
                  <a:srgbClr val="F8FAFA"/>
                </a:solidFill>
                <a:latin typeface="Noto Sans CJK SC"/>
              </a:defRPr>
            </a:pPr>
            <a:r>
              <a:t>证据索引：现场追问时打开这些文件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457200" y="1216152"/>
            <a:ext cx="11274552" cy="0"/>
          </a:xfrm>
          <a:prstGeom prst="line">
            <a:avLst/>
          </a:prstGeom>
          <a:ln w="12700">
            <a:solidFill>
              <a:srgbClr val="3A4F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457200" y="6510528"/>
            <a:ext cx="10789920" cy="192024"/>
          </a:xfrm>
          <a:prstGeom prst="rect">
            <a:avLst/>
          </a:prstGeom>
          <a:noFill/>
        </p:spPr>
        <p:txBody>
          <a:bodyPr wrap="square" lIns="18288" rIns="18288" tIns="13716" bIns="13716" anchor="ctr">
            <a:spAutoFit/>
          </a:bodyPr>
          <a:lstStyle/>
          <a:p>
            <a:pPr algn="l">
              <a:spcAft>
                <a:spcPts val="200"/>
              </a:spcAft>
              <a:defRPr sz="800" b="0">
                <a:solidFill>
                  <a:srgbClr val="ADBFC9"/>
                </a:solidFill>
                <a:latin typeface="Noto Sans CJK SC"/>
              </a:defRPr>
            </a:pPr>
            <a:r>
              <a:t>材料依据为当前仓库文件；未新增真实模型或机器人实验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01400" y="6464808"/>
            <a:ext cx="457200" cy="256032"/>
          </a:xfrm>
          <a:prstGeom prst="rect">
            <a:avLst/>
          </a:prstGeom>
          <a:noFill/>
        </p:spPr>
        <p:txBody>
          <a:bodyPr wrap="square" lIns="18288" rIns="18288" tIns="13716" bIns="13716" anchor="ctr">
            <a:spAutoFit/>
          </a:bodyPr>
          <a:lstStyle/>
          <a:p>
            <a:pPr algn="r">
              <a:spcAft>
                <a:spcPts val="200"/>
              </a:spcAft>
              <a:defRPr sz="1000" b="1">
                <a:solidFill>
                  <a:srgbClr val="3FD7C0"/>
                </a:solidFill>
                <a:latin typeface="Noto Sans CJK SC"/>
              </a:defRPr>
            </a:pPr>
            <a:r>
              <a:t>13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03504" y="1481328"/>
            <a:ext cx="10972800" cy="576072"/>
          </a:xfrm>
          <a:prstGeom prst="roundRect">
            <a:avLst>
              <a:gd name="adj" fmla="val 8000"/>
            </a:avLst>
          </a:prstGeom>
          <a:solidFill>
            <a:srgbClr val="1C32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32104" y="1563624"/>
            <a:ext cx="1993392" cy="374904"/>
          </a:xfrm>
          <a:prstGeom prst="rect">
            <a:avLst/>
          </a:prstGeom>
          <a:noFill/>
        </p:spPr>
        <p:txBody>
          <a:bodyPr wrap="square" lIns="18288" rIns="18288" tIns="13716" bIns="13716" anchor="ctr">
            <a:spAutoFit/>
          </a:bodyPr>
          <a:lstStyle/>
          <a:p>
            <a:pPr algn="l">
              <a:spcAft>
                <a:spcPts val="200"/>
              </a:spcAft>
              <a:defRPr sz="1500" b="1">
                <a:solidFill>
                  <a:srgbClr val="F8FAFA"/>
                </a:solidFill>
                <a:latin typeface="Noto Sans CJK SC"/>
              </a:defRPr>
            </a:pPr>
            <a:r>
              <a:t>架构与边界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88920" y="1563624"/>
            <a:ext cx="8366760" cy="374904"/>
          </a:xfrm>
          <a:prstGeom prst="rect">
            <a:avLst/>
          </a:prstGeom>
          <a:noFill/>
        </p:spPr>
        <p:txBody>
          <a:bodyPr wrap="square" lIns="18288" rIns="18288" tIns="13716" bIns="13716" anchor="ctr">
            <a:spAutoFit/>
          </a:bodyPr>
          <a:lstStyle/>
          <a:p>
            <a:pPr algn="l">
              <a:spcAft>
                <a:spcPts val="200"/>
              </a:spcAft>
              <a:defRPr sz="1400" b="0">
                <a:solidFill>
                  <a:srgbClr val="ADBFC9"/>
                </a:solidFill>
                <a:latin typeface="Noto Sans CJK SC"/>
              </a:defRPr>
            </a:pPr>
            <a:r>
              <a:t>docs/DETAILED_ARCHITECTURE.md · docs/ARCHITECTURE.md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03504" y="2185416"/>
            <a:ext cx="10972800" cy="576072"/>
          </a:xfrm>
          <a:prstGeom prst="roundRect">
            <a:avLst>
              <a:gd name="adj" fmla="val 8000"/>
            </a:avLst>
          </a:prstGeom>
          <a:solidFill>
            <a:srgbClr val="233A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2104" y="2267712"/>
            <a:ext cx="1993392" cy="374904"/>
          </a:xfrm>
          <a:prstGeom prst="rect">
            <a:avLst/>
          </a:prstGeom>
          <a:noFill/>
        </p:spPr>
        <p:txBody>
          <a:bodyPr wrap="square" lIns="18288" rIns="18288" tIns="13716" bIns="13716" anchor="ctr">
            <a:spAutoFit/>
          </a:bodyPr>
          <a:lstStyle/>
          <a:p>
            <a:pPr algn="l">
              <a:spcAft>
                <a:spcPts val="200"/>
              </a:spcAft>
              <a:defRPr sz="1500" b="1">
                <a:solidFill>
                  <a:srgbClr val="F8FAFA"/>
                </a:solidFill>
                <a:latin typeface="Noto Sans CJK SC"/>
              </a:defRPr>
            </a:pPr>
            <a:r>
              <a:t>实际完成状态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88920" y="2267712"/>
            <a:ext cx="8366760" cy="374904"/>
          </a:xfrm>
          <a:prstGeom prst="rect">
            <a:avLst/>
          </a:prstGeom>
          <a:noFill/>
        </p:spPr>
        <p:txBody>
          <a:bodyPr wrap="square" lIns="18288" rIns="18288" tIns="13716" bIns="13716" anchor="ctr">
            <a:spAutoFit/>
          </a:bodyPr>
          <a:lstStyle/>
          <a:p>
            <a:pPr algn="l">
              <a:spcAft>
                <a:spcPts val="200"/>
              </a:spcAft>
              <a:defRPr sz="1400" b="0">
                <a:solidFill>
                  <a:srgbClr val="ADBFC9"/>
                </a:solidFill>
                <a:latin typeface="Noto Sans CJK SC"/>
              </a:defRPr>
            </a:pPr>
            <a:r>
              <a:t>docs/PROJECT_STATUS.md · docs/BUILD_ROADMAP.md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03504" y="2889504"/>
            <a:ext cx="10972800" cy="576072"/>
          </a:xfrm>
          <a:prstGeom prst="roundRect">
            <a:avLst>
              <a:gd name="adj" fmla="val 8000"/>
            </a:avLst>
          </a:prstGeom>
          <a:solidFill>
            <a:srgbClr val="1C32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2104" y="2971800"/>
            <a:ext cx="1993392" cy="374904"/>
          </a:xfrm>
          <a:prstGeom prst="rect">
            <a:avLst/>
          </a:prstGeom>
          <a:noFill/>
        </p:spPr>
        <p:txBody>
          <a:bodyPr wrap="square" lIns="18288" rIns="18288" tIns="13716" bIns="13716" anchor="ctr">
            <a:spAutoFit/>
          </a:bodyPr>
          <a:lstStyle/>
          <a:p>
            <a:pPr algn="l">
              <a:spcAft>
                <a:spcPts val="200"/>
              </a:spcAft>
              <a:defRPr sz="1500" b="1">
                <a:solidFill>
                  <a:srgbClr val="F8FAFA"/>
                </a:solidFill>
                <a:latin typeface="Noto Sans CJK SC"/>
              </a:defRPr>
            </a:pPr>
            <a:r>
              <a:t>拆分机制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788920" y="2971800"/>
            <a:ext cx="8366760" cy="374904"/>
          </a:xfrm>
          <a:prstGeom prst="rect">
            <a:avLst/>
          </a:prstGeom>
          <a:noFill/>
        </p:spPr>
        <p:txBody>
          <a:bodyPr wrap="square" lIns="18288" rIns="18288" tIns="13716" bIns="13716" anchor="ctr">
            <a:spAutoFit/>
          </a:bodyPr>
          <a:lstStyle/>
          <a:p>
            <a:pPr algn="l">
              <a:spcAft>
                <a:spcPts val="200"/>
              </a:spcAft>
              <a:defRPr sz="1400" b="0">
                <a:solidFill>
                  <a:srgbClr val="ADBFC9"/>
                </a:solidFill>
                <a:latin typeface="Noto Sans CJK SC"/>
              </a:defRPr>
            </a:pPr>
            <a:r>
              <a:t>docs/TASK_DECOMPOSITION_FLOW.md · robot_agent/planner.py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03504" y="3593592"/>
            <a:ext cx="10972800" cy="576072"/>
          </a:xfrm>
          <a:prstGeom prst="roundRect">
            <a:avLst>
              <a:gd name="adj" fmla="val 8000"/>
            </a:avLst>
          </a:prstGeom>
          <a:solidFill>
            <a:srgbClr val="233A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2104" y="3675888"/>
            <a:ext cx="1993392" cy="374904"/>
          </a:xfrm>
          <a:prstGeom prst="rect">
            <a:avLst/>
          </a:prstGeom>
          <a:noFill/>
        </p:spPr>
        <p:txBody>
          <a:bodyPr wrap="square" lIns="18288" rIns="18288" tIns="13716" bIns="13716" anchor="ctr">
            <a:spAutoFit/>
          </a:bodyPr>
          <a:lstStyle/>
          <a:p>
            <a:pPr algn="l">
              <a:spcAft>
                <a:spcPts val="200"/>
              </a:spcAft>
              <a:defRPr sz="1500" b="1">
                <a:solidFill>
                  <a:srgbClr val="F8FAFA"/>
                </a:solidFill>
                <a:latin typeface="Noto Sans CJK SC"/>
              </a:defRPr>
            </a:pPr>
            <a:r>
              <a:t>模型证据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788920" y="3675888"/>
            <a:ext cx="8366760" cy="374904"/>
          </a:xfrm>
          <a:prstGeom prst="rect">
            <a:avLst/>
          </a:prstGeom>
          <a:noFill/>
        </p:spPr>
        <p:txBody>
          <a:bodyPr wrap="square" lIns="18288" rIns="18288" tIns="13716" bIns="13716" anchor="ctr">
            <a:spAutoFit/>
          </a:bodyPr>
          <a:lstStyle/>
          <a:p>
            <a:pPr algn="l">
              <a:spcAft>
                <a:spcPts val="200"/>
              </a:spcAft>
              <a:defRPr sz="1400" b="0">
                <a:solidFill>
                  <a:srgbClr val="ADBFC9"/>
                </a:solidFill>
                <a:latin typeface="Noto Sans CJK SC"/>
              </a:defRPr>
            </a:pPr>
            <a:r>
              <a:t>docs/validation/model-planning-qwen3.8-max.json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03504" y="4297680"/>
            <a:ext cx="10972800" cy="576072"/>
          </a:xfrm>
          <a:prstGeom prst="roundRect">
            <a:avLst>
              <a:gd name="adj" fmla="val 8000"/>
            </a:avLst>
          </a:prstGeom>
          <a:solidFill>
            <a:srgbClr val="1C32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32104" y="4379976"/>
            <a:ext cx="1993392" cy="374904"/>
          </a:xfrm>
          <a:prstGeom prst="rect">
            <a:avLst/>
          </a:prstGeom>
          <a:noFill/>
        </p:spPr>
        <p:txBody>
          <a:bodyPr wrap="square" lIns="18288" rIns="18288" tIns="13716" bIns="13716" anchor="ctr">
            <a:spAutoFit/>
          </a:bodyPr>
          <a:lstStyle/>
          <a:p>
            <a:pPr algn="l">
              <a:spcAft>
                <a:spcPts val="200"/>
              </a:spcAft>
              <a:defRPr sz="1500" b="1">
                <a:solidFill>
                  <a:srgbClr val="F8FAFA"/>
                </a:solidFill>
                <a:latin typeface="Noto Sans CJK SC"/>
              </a:defRPr>
            </a:pPr>
            <a:r>
              <a:t>运行验收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788920" y="4379976"/>
            <a:ext cx="8366760" cy="374904"/>
          </a:xfrm>
          <a:prstGeom prst="rect">
            <a:avLst/>
          </a:prstGeom>
          <a:noFill/>
        </p:spPr>
        <p:txBody>
          <a:bodyPr wrap="square" lIns="18288" rIns="18288" tIns="13716" bIns="13716" anchor="ctr">
            <a:spAutoFit/>
          </a:bodyPr>
          <a:lstStyle/>
          <a:p>
            <a:pPr algn="l">
              <a:spcAft>
                <a:spcPts val="200"/>
              </a:spcAft>
              <a:defRPr sz="1400" b="0">
                <a:solidFill>
                  <a:srgbClr val="ADBFC9"/>
                </a:solidFill>
                <a:latin typeface="Noto Sans CJK SC"/>
              </a:defRPr>
            </a:pPr>
            <a:r>
              <a:t>docs/VALIDATION.md · tests/test_http_execution.py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03504" y="5001768"/>
            <a:ext cx="10972800" cy="576072"/>
          </a:xfrm>
          <a:prstGeom prst="roundRect">
            <a:avLst>
              <a:gd name="adj" fmla="val 8000"/>
            </a:avLst>
          </a:prstGeom>
          <a:solidFill>
            <a:srgbClr val="233A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32104" y="5084064"/>
            <a:ext cx="1993392" cy="374904"/>
          </a:xfrm>
          <a:prstGeom prst="rect">
            <a:avLst/>
          </a:prstGeom>
          <a:noFill/>
        </p:spPr>
        <p:txBody>
          <a:bodyPr wrap="square" lIns="18288" rIns="18288" tIns="13716" bIns="13716" anchor="ctr">
            <a:spAutoFit/>
          </a:bodyPr>
          <a:lstStyle/>
          <a:p>
            <a:pPr algn="l">
              <a:spcAft>
                <a:spcPts val="200"/>
              </a:spcAft>
              <a:defRPr sz="1500" b="1">
                <a:solidFill>
                  <a:srgbClr val="F8FAFA"/>
                </a:solidFill>
                <a:latin typeface="Noto Sans CJK SC"/>
              </a:defRPr>
            </a:pPr>
            <a:r>
              <a:t>语义上下文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788920" y="5084064"/>
            <a:ext cx="8366760" cy="374904"/>
          </a:xfrm>
          <a:prstGeom prst="rect">
            <a:avLst/>
          </a:prstGeom>
          <a:noFill/>
        </p:spPr>
        <p:txBody>
          <a:bodyPr wrap="square" lIns="18288" rIns="18288" tIns="13716" bIns="13716" anchor="ctr">
            <a:spAutoFit/>
          </a:bodyPr>
          <a:lstStyle/>
          <a:p>
            <a:pPr algn="l">
              <a:spcAft>
                <a:spcPts val="200"/>
              </a:spcAft>
              <a:defRPr sz="1400" b="0">
                <a:solidFill>
                  <a:srgbClr val="ADBFC9"/>
                </a:solidFill>
                <a:latin typeface="Noto Sans CJK SC"/>
              </a:defRPr>
            </a:pPr>
            <a:r>
              <a:t>tests/test_semantic_context_pipeline.py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